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7" r:id="rId6"/>
    <p:sldId id="259" r:id="rId7"/>
    <p:sldId id="265" r:id="rId8"/>
    <p:sldId id="266" r:id="rId9"/>
    <p:sldId id="260" r:id="rId10"/>
    <p:sldId id="261" r:id="rId11"/>
    <p:sldId id="262" r:id="rId12"/>
    <p:sldId id="263" r:id="rId13"/>
    <p:sldId id="275" r:id="rId14"/>
    <p:sldId id="276" r:id="rId15"/>
    <p:sldId id="277" r:id="rId16"/>
    <p:sldId id="278" r:id="rId17"/>
    <p:sldId id="279" r:id="rId18"/>
    <p:sldId id="280" r:id="rId19"/>
    <p:sldId id="268" r:id="rId20"/>
    <p:sldId id="269" r:id="rId21"/>
    <p:sldId id="271" r:id="rId22"/>
    <p:sldId id="272" r:id="rId23"/>
    <p:sldId id="273" r:id="rId24"/>
    <p:sldId id="274" r:id="rId25"/>
    <p:sldId id="270" r:id="rId26"/>
    <p:sldId id="281" r:id="rId27"/>
    <p:sldId id="282" r:id="rId28"/>
    <p:sldId id="284" r:id="rId29"/>
    <p:sldId id="283" r:id="rId30"/>
    <p:sldId id="296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3" r:id="rId41"/>
    <p:sldId id="295" r:id="rId4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t>덤프링 (Dumpring)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rPr lang="en-US" altLang="ko-KR" dirty="0"/>
              <a:t>UI/UX</a:t>
            </a:r>
            <a:r>
              <a:rPr lang="ko-KR" altLang="en-US" dirty="0"/>
              <a:t> 설계서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686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D97706"/>
                </a:solidFill>
                <a:latin typeface="Malgun Gothic"/>
              </a:defRPr>
            </a:pPr>
            <a:r>
              <a:rPr dirty="0"/>
              <a:t>5대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역할군별</a:t>
            </a:r>
            <a:r>
              <a:rPr dirty="0"/>
              <a:t> </a:t>
            </a:r>
            <a:r>
              <a:rPr dirty="0" err="1"/>
              <a:t>수직형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매핑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112014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덤프링 모바일 앱 역할군별 통합 정보 구조도 (Information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097280"/>
            <a:ext cx="2057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1152144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🔑 공통 /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554480"/>
            <a:ext cx="2057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1645920"/>
            <a:ext cx="1874520" cy="31565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sz="1050" dirty="0"/>
              <a:t>1. </a:t>
            </a:r>
            <a:r>
              <a:rPr sz="1050" dirty="0" err="1"/>
              <a:t>로그인</a:t>
            </a:r>
            <a:r>
              <a:rPr sz="1050" dirty="0"/>
              <a:t>/</a:t>
            </a:r>
            <a:r>
              <a:rPr sz="1050" dirty="0" err="1"/>
              <a:t>본인인증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휴대폰</a:t>
            </a:r>
            <a:r>
              <a:rPr sz="1050" dirty="0"/>
              <a:t> </a:t>
            </a:r>
            <a:r>
              <a:rPr sz="1050" dirty="0" err="1"/>
              <a:t>번호</a:t>
            </a:r>
            <a:r>
              <a:rPr sz="1050" dirty="0"/>
              <a:t> </a:t>
            </a:r>
            <a:r>
              <a:rPr sz="1050" dirty="0" err="1"/>
              <a:t>입력</a:t>
            </a:r>
            <a:br>
              <a:rPr sz="1050" dirty="0"/>
            </a:br>
            <a:r>
              <a:rPr sz="1050" dirty="0"/>
              <a:t>   - SMS 6자리 </a:t>
            </a:r>
            <a:r>
              <a:rPr sz="1050" dirty="0" err="1"/>
              <a:t>인증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가입</a:t>
            </a:r>
            <a:r>
              <a:rPr sz="1050" dirty="0"/>
              <a:t> </a:t>
            </a:r>
            <a:r>
              <a:rPr sz="1050" dirty="0" err="1"/>
              <a:t>여부</a:t>
            </a:r>
            <a:r>
              <a:rPr sz="1050" dirty="0"/>
              <a:t> </a:t>
            </a:r>
            <a:r>
              <a:rPr sz="1050" dirty="0" err="1"/>
              <a:t>자동</a:t>
            </a:r>
            <a:r>
              <a:rPr sz="1050" dirty="0"/>
              <a:t> </a:t>
            </a:r>
            <a:r>
              <a:rPr sz="1050" dirty="0" err="1"/>
              <a:t>판정</a:t>
            </a:r>
            <a:br>
              <a:rPr sz="1050" dirty="0"/>
            </a:br>
            <a:br>
              <a:rPr sz="1050" dirty="0"/>
            </a:br>
            <a:r>
              <a:rPr sz="1050" dirty="0"/>
              <a:t>2. </a:t>
            </a:r>
            <a:r>
              <a:rPr sz="1050" dirty="0" err="1"/>
              <a:t>역할별</a:t>
            </a:r>
            <a:r>
              <a:rPr sz="1050" dirty="0"/>
              <a:t> </a:t>
            </a:r>
            <a:r>
              <a:rPr sz="1050" dirty="0" err="1"/>
              <a:t>회원가입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기본</a:t>
            </a:r>
            <a:r>
              <a:rPr sz="1050" dirty="0"/>
              <a:t> </a:t>
            </a:r>
            <a:r>
              <a:rPr sz="1050" dirty="0" err="1"/>
              <a:t>정보</a:t>
            </a:r>
            <a:r>
              <a:rPr sz="1050" dirty="0"/>
              <a:t> </a:t>
            </a:r>
            <a:r>
              <a:rPr sz="1050" dirty="0" err="1"/>
              <a:t>등록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필수</a:t>
            </a:r>
            <a:r>
              <a:rPr sz="1050" dirty="0"/>
              <a:t> </a:t>
            </a:r>
            <a:r>
              <a:rPr sz="1050" dirty="0" err="1"/>
              <a:t>자격증</a:t>
            </a:r>
            <a:r>
              <a:rPr sz="1050" dirty="0"/>
              <a:t> </a:t>
            </a:r>
            <a:r>
              <a:rPr sz="1050" dirty="0" err="1"/>
              <a:t>제출</a:t>
            </a:r>
            <a:br>
              <a:rPr sz="1050" dirty="0"/>
            </a:br>
            <a:br>
              <a:rPr sz="1050" dirty="0"/>
            </a:br>
            <a:r>
              <a:rPr sz="1050" dirty="0"/>
              <a:t>3. </a:t>
            </a:r>
            <a:r>
              <a:rPr sz="1050" dirty="0" err="1"/>
              <a:t>마이페이지</a:t>
            </a:r>
            <a:r>
              <a:rPr sz="1050" dirty="0"/>
              <a:t>/</a:t>
            </a:r>
            <a:r>
              <a:rPr sz="1050" dirty="0" err="1"/>
              <a:t>설정</a:t>
            </a:r>
            <a:br>
              <a:rPr sz="1050" dirty="0"/>
            </a:br>
            <a:r>
              <a:rPr sz="1050" dirty="0"/>
              <a:t>   - 내 </a:t>
            </a:r>
            <a:r>
              <a:rPr sz="1050" dirty="0" err="1"/>
              <a:t>프로필</a:t>
            </a:r>
            <a:r>
              <a:rPr sz="1050" dirty="0"/>
              <a:t> </a:t>
            </a:r>
            <a:r>
              <a:rPr sz="1050" dirty="0" err="1"/>
              <a:t>관리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정산</a:t>
            </a:r>
            <a:r>
              <a:rPr sz="1050" dirty="0"/>
              <a:t> </a:t>
            </a:r>
            <a:r>
              <a:rPr sz="1050" dirty="0" err="1"/>
              <a:t>은행</a:t>
            </a:r>
            <a:r>
              <a:rPr sz="1050" dirty="0"/>
              <a:t> </a:t>
            </a:r>
            <a:r>
              <a:rPr sz="1050" dirty="0" err="1"/>
              <a:t>계좌</a:t>
            </a:r>
            <a:r>
              <a:rPr sz="1050" dirty="0"/>
              <a:t> </a:t>
            </a:r>
            <a:r>
              <a:rPr sz="1050" dirty="0" err="1"/>
              <a:t>연동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푸시</a:t>
            </a:r>
            <a:r>
              <a:rPr sz="1050" dirty="0"/>
              <a:t> </a:t>
            </a:r>
            <a:r>
              <a:rPr sz="1050" dirty="0" err="1"/>
              <a:t>알림</a:t>
            </a:r>
            <a:r>
              <a:rPr sz="1050" dirty="0"/>
              <a:t> </a:t>
            </a:r>
            <a:r>
              <a:rPr sz="1050" dirty="0" err="1"/>
              <a:t>수신</a:t>
            </a:r>
            <a:r>
              <a:rPr sz="1050" dirty="0"/>
              <a:t> </a:t>
            </a:r>
            <a:r>
              <a:rPr sz="1050" dirty="0" err="1"/>
              <a:t>설정</a:t>
            </a:r>
            <a:endParaRPr sz="1050" dirty="0"/>
          </a:p>
        </p:txBody>
      </p:sp>
      <p:sp>
        <p:nvSpPr>
          <p:cNvPr id="8" name="Rectangle 7"/>
          <p:cNvSpPr/>
          <p:nvPr/>
        </p:nvSpPr>
        <p:spPr>
          <a:xfrm>
            <a:off x="2779776" y="1097280"/>
            <a:ext cx="2057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79776" y="1152144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🚖 덤프 기사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554480"/>
            <a:ext cx="2057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1216" y="1645920"/>
            <a:ext cx="1874520" cy="31565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sz="1050" dirty="0"/>
              <a:t>1. </a:t>
            </a:r>
            <a:r>
              <a:rPr sz="1050" dirty="0" err="1"/>
              <a:t>배차</a:t>
            </a:r>
            <a:r>
              <a:rPr sz="1050" dirty="0"/>
              <a:t> </a:t>
            </a:r>
            <a:r>
              <a:rPr sz="1050" dirty="0" err="1"/>
              <a:t>검색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실시간</a:t>
            </a:r>
            <a:r>
              <a:rPr sz="1050" dirty="0"/>
              <a:t> 콜 </a:t>
            </a:r>
            <a:r>
              <a:rPr sz="1050" dirty="0" err="1"/>
              <a:t>목록</a:t>
            </a:r>
            <a:r>
              <a:rPr sz="1050" dirty="0"/>
              <a:t> </a:t>
            </a:r>
            <a:r>
              <a:rPr sz="1050" dirty="0" err="1"/>
              <a:t>피드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톤수</a:t>
            </a:r>
            <a:r>
              <a:rPr sz="1050" dirty="0"/>
              <a:t>/</a:t>
            </a:r>
            <a:r>
              <a:rPr sz="1050" dirty="0" err="1"/>
              <a:t>단가</a:t>
            </a:r>
            <a:r>
              <a:rPr sz="1050" dirty="0"/>
              <a:t> </a:t>
            </a:r>
            <a:r>
              <a:rPr sz="1050" dirty="0" err="1"/>
              <a:t>필터링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지도</a:t>
            </a:r>
            <a:r>
              <a:rPr sz="1050" dirty="0"/>
              <a:t> </a:t>
            </a:r>
            <a:r>
              <a:rPr sz="1050" dirty="0" err="1"/>
              <a:t>상세</a:t>
            </a:r>
            <a:r>
              <a:rPr sz="1050" dirty="0"/>
              <a:t> 및 </a:t>
            </a:r>
            <a:r>
              <a:rPr sz="1050" dirty="0" err="1"/>
              <a:t>오더</a:t>
            </a:r>
            <a:r>
              <a:rPr sz="1050" dirty="0"/>
              <a:t> </a:t>
            </a:r>
            <a:r>
              <a:rPr sz="1050" dirty="0" err="1"/>
              <a:t>수락</a:t>
            </a:r>
            <a:br>
              <a:rPr sz="1050" dirty="0"/>
            </a:br>
            <a:br>
              <a:rPr sz="1050" dirty="0"/>
            </a:br>
            <a:r>
              <a:rPr sz="1050" dirty="0"/>
              <a:t>2. </a:t>
            </a:r>
            <a:r>
              <a:rPr sz="1050" dirty="0" err="1"/>
              <a:t>실시간</a:t>
            </a:r>
            <a:r>
              <a:rPr sz="1050" dirty="0"/>
              <a:t> </a:t>
            </a:r>
            <a:r>
              <a:rPr sz="1050" dirty="0" err="1"/>
              <a:t>운행</a:t>
            </a:r>
            <a:br>
              <a:rPr sz="1050" dirty="0"/>
            </a:br>
            <a:r>
              <a:rPr sz="1050" dirty="0"/>
              <a:t>   - GPS </a:t>
            </a:r>
            <a:r>
              <a:rPr sz="1050" dirty="0" err="1"/>
              <a:t>연동</a:t>
            </a:r>
            <a:r>
              <a:rPr sz="1050" dirty="0"/>
              <a:t> </a:t>
            </a:r>
            <a:r>
              <a:rPr sz="1050" dirty="0" err="1"/>
              <a:t>택시</a:t>
            </a:r>
            <a:r>
              <a:rPr sz="1050" dirty="0"/>
              <a:t> </a:t>
            </a:r>
            <a:r>
              <a:rPr sz="1050" dirty="0" err="1"/>
              <a:t>미터기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게이트</a:t>
            </a:r>
            <a:r>
              <a:rPr sz="1050" dirty="0"/>
              <a:t> 200m </a:t>
            </a:r>
            <a:r>
              <a:rPr sz="1050" dirty="0" err="1"/>
              <a:t>접근</a:t>
            </a:r>
            <a:r>
              <a:rPr sz="1050" dirty="0"/>
              <a:t> </a:t>
            </a:r>
            <a:r>
              <a:rPr sz="1050" dirty="0" err="1"/>
              <a:t>알림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회차</a:t>
            </a:r>
            <a:r>
              <a:rPr sz="1050" dirty="0"/>
              <a:t> </a:t>
            </a:r>
            <a:r>
              <a:rPr sz="1050" dirty="0" err="1"/>
              <a:t>반려</a:t>
            </a:r>
            <a:r>
              <a:rPr sz="1050" dirty="0"/>
              <a:t> </a:t>
            </a:r>
            <a:r>
              <a:rPr sz="1050" dirty="0" err="1"/>
              <a:t>소명</a:t>
            </a:r>
            <a:r>
              <a:rPr sz="1050" dirty="0"/>
              <a:t> </a:t>
            </a:r>
            <a:r>
              <a:rPr sz="1050" dirty="0" err="1"/>
              <a:t>업로드</a:t>
            </a:r>
            <a:br>
              <a:rPr sz="1050" dirty="0"/>
            </a:br>
            <a:br>
              <a:rPr sz="1050" dirty="0"/>
            </a:br>
            <a:r>
              <a:rPr sz="1050" dirty="0"/>
              <a:t>3. </a:t>
            </a:r>
            <a:r>
              <a:rPr sz="1050" dirty="0" err="1"/>
              <a:t>정산</a:t>
            </a:r>
            <a:r>
              <a:rPr sz="1050" dirty="0"/>
              <a:t> 및 </a:t>
            </a:r>
            <a:r>
              <a:rPr sz="1050" dirty="0" err="1"/>
              <a:t>운행이력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오늘</a:t>
            </a:r>
            <a:r>
              <a:rPr sz="1050" dirty="0"/>
              <a:t> </a:t>
            </a:r>
            <a:r>
              <a:rPr sz="1050" dirty="0" err="1"/>
              <a:t>전표</a:t>
            </a:r>
            <a:r>
              <a:rPr sz="1050" dirty="0"/>
              <a:t> </a:t>
            </a:r>
            <a:r>
              <a:rPr sz="1050" dirty="0" err="1"/>
              <a:t>내역</a:t>
            </a:r>
            <a:r>
              <a:rPr sz="1050" dirty="0"/>
              <a:t> </a:t>
            </a:r>
            <a:r>
              <a:rPr sz="1050" dirty="0" err="1"/>
              <a:t>피드</a:t>
            </a:r>
            <a:br>
              <a:rPr sz="1050" dirty="0"/>
            </a:br>
            <a:r>
              <a:rPr sz="1050" dirty="0"/>
              <a:t>   - </a:t>
            </a:r>
            <a:r>
              <a:rPr sz="1050" dirty="0" err="1"/>
              <a:t>완료</a:t>
            </a:r>
            <a:r>
              <a:rPr sz="1050" dirty="0"/>
              <a:t> </a:t>
            </a:r>
            <a:r>
              <a:rPr sz="1050" dirty="0" err="1"/>
              <a:t>티켓</a:t>
            </a:r>
            <a:r>
              <a:rPr sz="1050" dirty="0"/>
              <a:t> </a:t>
            </a:r>
            <a:r>
              <a:rPr sz="1050" dirty="0" err="1"/>
              <a:t>전자</a:t>
            </a:r>
            <a:r>
              <a:rPr sz="1050" dirty="0"/>
              <a:t> </a:t>
            </a:r>
            <a:r>
              <a:rPr sz="1050" dirty="0" err="1"/>
              <a:t>영수증</a:t>
            </a:r>
            <a:endParaRPr sz="1050" dirty="0"/>
          </a:p>
        </p:txBody>
      </p:sp>
      <p:sp>
        <p:nvSpPr>
          <p:cNvPr id="12" name="Rectangle 11"/>
          <p:cNvSpPr/>
          <p:nvPr/>
        </p:nvSpPr>
        <p:spPr>
          <a:xfrm>
            <a:off x="5065776" y="1097280"/>
            <a:ext cx="2057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65776" y="1152144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🚚 덤프 차주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1554480"/>
            <a:ext cx="2057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7216" y="1645920"/>
            <a:ext cx="1874520" cy="364131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1. 관제 대시보드</a:t>
            </a:r>
            <a:br>
              <a:rPr sz="1050"/>
            </a:br>
            <a:r>
              <a:rPr sz="1050"/>
              <a:t>   - 기사 주행 상태 관제</a:t>
            </a:r>
            <a:br>
              <a:rPr sz="1050"/>
            </a:br>
            <a:r>
              <a:rPr sz="1050"/>
              <a:t>   - 오늘 정산대기 누적액</a:t>
            </a:r>
            <a:br>
              <a:rPr sz="1050"/>
            </a:br>
            <a:br>
              <a:rPr sz="1050"/>
            </a:br>
            <a:r>
              <a:rPr sz="1050"/>
              <a:t>2. 소속 기사 관리</a:t>
            </a:r>
            <a:br>
              <a:rPr sz="1050"/>
            </a:br>
            <a:r>
              <a:rPr sz="1050"/>
              <a:t>   - 번호로 SMS 초대 전송</a:t>
            </a:r>
            <a:br>
              <a:rPr sz="1050"/>
            </a:br>
            <a:r>
              <a:rPr sz="1050"/>
              <a:t>   - 기사별 차량 매핑 지정</a:t>
            </a:r>
            <a:br>
              <a:rPr sz="1050"/>
            </a:br>
            <a:br>
              <a:rPr sz="1050"/>
            </a:br>
            <a:r>
              <a:rPr sz="1050"/>
              <a:t>3. 보유 차량 등록</a:t>
            </a:r>
            <a:br>
              <a:rPr sz="1050"/>
            </a:br>
            <a:r>
              <a:rPr sz="1050"/>
              <a:t>   - 번호판/톤수 신규 신청</a:t>
            </a:r>
            <a:br>
              <a:rPr sz="1050"/>
            </a:br>
            <a:r>
              <a:rPr sz="1050"/>
              <a:t>   - 자동차등록증 첨부함</a:t>
            </a:r>
            <a:br>
              <a:rPr sz="1050"/>
            </a:br>
            <a:br>
              <a:rPr sz="1050"/>
            </a:br>
            <a:r>
              <a:rPr sz="1050"/>
              <a:t>4. 매출 및 기여도</a:t>
            </a:r>
            <a:br>
              <a:rPr sz="1050"/>
            </a:br>
            <a:r>
              <a:rPr sz="1050"/>
              <a:t>   - 월별 기사 매출 순위</a:t>
            </a:r>
            <a:br>
              <a:rPr sz="1050"/>
            </a:br>
            <a:r>
              <a:rPr sz="1050"/>
              <a:t>   - 정산서 Excel 내보내기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1776" y="1097280"/>
            <a:ext cx="2057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51776" y="1152144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👷 현장 담당자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1554480"/>
            <a:ext cx="2057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43216" y="1645920"/>
            <a:ext cx="1874520" cy="29141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1. 게이트 입출 통제</a:t>
            </a:r>
            <a:br>
              <a:rPr sz="1050"/>
            </a:br>
            <a:r>
              <a:rPr sz="1050"/>
              <a:t>   - 진입 대기 트럭 큐</a:t>
            </a:r>
            <a:br>
              <a:rPr sz="1050"/>
            </a:br>
            <a:r>
              <a:rPr sz="1050"/>
              <a:t>   - 수동 입차 체크인</a:t>
            </a:r>
            <a:br>
              <a:rPr sz="1050"/>
            </a:br>
            <a:r>
              <a:rPr sz="1050"/>
              <a:t>   - 바코드/QR코드 스캔</a:t>
            </a:r>
            <a:br>
              <a:rPr sz="1050"/>
            </a:br>
            <a:br>
              <a:rPr sz="1050"/>
            </a:br>
            <a:r>
              <a:rPr sz="1050"/>
              <a:t>2. 상차 출발 승인</a:t>
            </a:r>
            <a:br>
              <a:rPr sz="1050"/>
            </a:br>
            <a:r>
              <a:rPr sz="1050"/>
              <a:t>   - 반출 자재 종류 선택</a:t>
            </a:r>
            <a:br>
              <a:rPr sz="1050"/>
            </a:br>
            <a:r>
              <a:rPr sz="1050"/>
              <a:t>   - 출발 승인 (미터기시작)</a:t>
            </a:r>
            <a:br>
              <a:rPr sz="1050"/>
            </a:br>
            <a:br>
              <a:rPr sz="1050"/>
            </a:br>
            <a:r>
              <a:rPr sz="1050"/>
              <a:t>3. 반출 전표 이력</a:t>
            </a:r>
            <a:br>
              <a:rPr sz="1050"/>
            </a:br>
            <a:r>
              <a:rPr sz="1050"/>
              <a:t>   - 오늘 반출 티켓 완료 목록</a:t>
            </a:r>
            <a:br>
              <a:rPr sz="1050"/>
            </a:br>
            <a:r>
              <a:rPr sz="1050"/>
              <a:t>   - 게이트 전표 일일 마감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37776" y="1097280"/>
            <a:ext cx="2057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37776" y="1152144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🚜 하차지 지주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7776" y="1554480"/>
            <a:ext cx="2057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9216" y="1645920"/>
            <a:ext cx="1874520" cy="31565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1. 사토장 대시보드</a:t>
            </a:r>
            <a:br>
              <a:rPr sz="1050"/>
            </a:br>
            <a:r>
              <a:rPr sz="1050"/>
              <a:t>   - 잔여 수용량 게이지</a:t>
            </a:r>
            <a:br>
              <a:rPr sz="1050"/>
            </a:br>
            <a:r>
              <a:rPr sz="1050"/>
              <a:t>   - 200m 이내 진입 목록</a:t>
            </a:r>
            <a:br>
              <a:rPr sz="1050"/>
            </a:br>
            <a:br>
              <a:rPr sz="1050"/>
            </a:br>
            <a:r>
              <a:rPr sz="1050"/>
              <a:t>2. 반입 승인/회차</a:t>
            </a:r>
            <a:br>
              <a:rPr sz="1050"/>
            </a:br>
            <a:r>
              <a:rPr sz="1050"/>
              <a:t>   - 육안 토사 상태 검증</a:t>
            </a:r>
            <a:br>
              <a:rPr sz="1050"/>
            </a:br>
            <a:r>
              <a:rPr sz="1050"/>
              <a:t>   - 최종 승인 (정산확정)</a:t>
            </a:r>
            <a:br>
              <a:rPr sz="1050"/>
            </a:br>
            <a:r>
              <a:rPr sz="1050"/>
              <a:t>   - 반려 및 회차 사진 업로드</a:t>
            </a:r>
            <a:br>
              <a:rPr sz="1050"/>
            </a:br>
            <a:br>
              <a:rPr sz="1050"/>
            </a:br>
            <a:r>
              <a:rPr sz="1050"/>
              <a:t>3. 공고 및 정산 설정</a:t>
            </a:r>
            <a:br>
              <a:rPr sz="1050"/>
            </a:br>
            <a:r>
              <a:rPr sz="1050"/>
              <a:t>   - 단가 정책 수금/지급/무상</a:t>
            </a:r>
            <a:br>
              <a:rPr sz="1050"/>
            </a:br>
            <a:r>
              <a:rPr sz="1050"/>
              <a:t>   - 수용 가능 토사 토글</a:t>
            </a:r>
            <a:br>
              <a:rPr sz="1050"/>
            </a:br>
            <a:r>
              <a:rPr sz="1050"/>
              <a:t>   - 월말 마감 세금계산서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832002F-C010-E79E-3BE1-1829E187FAAD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818F2-CECC-0037-43E3-C9A4B99D3EB4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로그인</a:t>
            </a:r>
            <a:endParaRPr sz="8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C507-A2E4-4F67-4DC3-B00BD8DA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C88B7-1112-2B55-0FED-7AC00022D7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1DDB4-3F7D-A0C9-7BDB-9F8F800DD2E3}"/>
              </a:ext>
            </a:extLst>
          </p:cNvPr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01.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상세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14582-5996-0421-7849-223337E50726}"/>
              </a:ext>
            </a:extLst>
          </p:cNvPr>
          <p:cNvSpPr txBox="1"/>
          <p:nvPr/>
        </p:nvSpPr>
        <p:spPr>
          <a:xfrm>
            <a:off x="365760" y="1207041"/>
            <a:ext cx="4736592" cy="49871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프로세스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정의</a:t>
            </a: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lang="ko-KR" altLang="en-US" dirty="0"/>
              <a:t>안 휴대폰 본인인증</a:t>
            </a:r>
            <a:br>
              <a:rPr dirty="0"/>
            </a:br>
            <a:r>
              <a:rPr dirty="0"/>
              <a:t>1단계: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 -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관계없이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사용자는</a:t>
            </a:r>
            <a:r>
              <a:rPr dirty="0"/>
              <a:t>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번호로</a:t>
            </a:r>
            <a:r>
              <a:rPr dirty="0"/>
              <a:t> </a:t>
            </a:r>
            <a:r>
              <a:rPr dirty="0" err="1"/>
              <a:t>시작</a:t>
            </a:r>
            <a:br>
              <a:rPr dirty="0"/>
            </a:br>
            <a:r>
              <a:rPr dirty="0"/>
              <a:t>   - '010-1234-5678' </a:t>
            </a:r>
            <a:r>
              <a:rPr dirty="0" err="1"/>
              <a:t>형식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대시</a:t>
            </a:r>
            <a:r>
              <a:rPr dirty="0"/>
              <a:t>(-) </a:t>
            </a:r>
            <a:r>
              <a:rPr dirty="0" err="1"/>
              <a:t>부여</a:t>
            </a:r>
            <a:br>
              <a:rPr dirty="0"/>
            </a:br>
            <a:r>
              <a:rPr dirty="0"/>
              <a:t>2단계: </a:t>
            </a:r>
            <a:r>
              <a:rPr dirty="0" err="1"/>
              <a:t>인증번호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   - </a:t>
            </a:r>
            <a:r>
              <a:rPr dirty="0" err="1"/>
              <a:t>문자</a:t>
            </a:r>
            <a:r>
              <a:rPr dirty="0"/>
              <a:t>(SMS)로 </a:t>
            </a:r>
            <a:r>
              <a:rPr dirty="0" err="1"/>
              <a:t>발송된</a:t>
            </a:r>
            <a:r>
              <a:rPr dirty="0"/>
              <a:t> 6자리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 - 3분(180초) </a:t>
            </a:r>
            <a:r>
              <a:rPr dirty="0" err="1"/>
              <a:t>유효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타이머</a:t>
            </a:r>
            <a:r>
              <a:rPr dirty="0"/>
              <a:t> </a:t>
            </a:r>
            <a:r>
              <a:rPr dirty="0" err="1"/>
              <a:t>작동</a:t>
            </a:r>
            <a:br>
              <a:rPr dirty="0"/>
            </a:br>
            <a:r>
              <a:rPr dirty="0"/>
              <a:t>   -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오기입</a:t>
            </a:r>
            <a:r>
              <a:rPr dirty="0"/>
              <a:t> 시 </a:t>
            </a:r>
            <a:r>
              <a:rPr dirty="0" err="1"/>
              <a:t>재전송</a:t>
            </a:r>
            <a:r>
              <a:rPr dirty="0"/>
              <a:t> 및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초기화</a:t>
            </a:r>
            <a:r>
              <a:rPr dirty="0"/>
              <a:t> </a:t>
            </a:r>
            <a:r>
              <a:rPr dirty="0" err="1"/>
              <a:t>지원</a:t>
            </a: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lang="ko-KR" altLang="en-US" dirty="0"/>
              <a:t>안 </a:t>
            </a:r>
            <a:r>
              <a:rPr lang="en-US" altLang="ko-KR" dirty="0"/>
              <a:t>PASS </a:t>
            </a:r>
            <a:r>
              <a:rPr lang="ko-KR" altLang="en-US" dirty="0"/>
              <a:t>인증</a:t>
            </a: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lang="ko-KR" altLang="en-US" dirty="0"/>
              <a:t>안 카카오</a:t>
            </a:r>
            <a:r>
              <a:rPr lang="en-US" altLang="ko-KR" dirty="0"/>
              <a:t>,</a:t>
            </a:r>
            <a:r>
              <a:rPr lang="ko-KR" altLang="en-US" dirty="0"/>
              <a:t>네이버 인증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</a:t>
            </a:r>
            <a:r>
              <a:rPr dirty="0" err="1"/>
              <a:t>흐름</a:t>
            </a:r>
            <a:br>
              <a:rPr dirty="0"/>
            </a:br>
            <a:r>
              <a:rPr dirty="0"/>
              <a:t>-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시 </a:t>
            </a:r>
            <a:r>
              <a:rPr dirty="0" err="1"/>
              <a:t>서버에서</a:t>
            </a:r>
            <a:r>
              <a:rPr dirty="0"/>
              <a:t> 기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검사</a:t>
            </a:r>
            <a:br>
              <a:rPr dirty="0"/>
            </a:br>
            <a:r>
              <a:rPr dirty="0"/>
              <a:t>  - [</a:t>
            </a:r>
            <a:r>
              <a:rPr dirty="0" err="1"/>
              <a:t>가존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]: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역할의</a:t>
            </a:r>
            <a:r>
              <a:rPr dirty="0"/>
              <a:t> </a:t>
            </a:r>
            <a:r>
              <a:rPr dirty="0" err="1"/>
              <a:t>메인</a:t>
            </a:r>
            <a:r>
              <a:rPr dirty="0"/>
              <a:t> 홈 </a:t>
            </a:r>
            <a:r>
              <a:rPr dirty="0" err="1"/>
              <a:t>대시보드로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  - [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]: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(Slide 3)로 </a:t>
            </a:r>
            <a:r>
              <a:rPr dirty="0" err="1"/>
              <a:t>이관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91F4AE-D3D5-4ECF-A4E1-ED8C67F52AE2}"/>
              </a:ext>
            </a:extLst>
          </p:cNvPr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D28C5-B054-8D47-6BD5-8731B218EB20}"/>
              </a:ext>
            </a:extLst>
          </p:cNvPr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FB456-A5A2-6A65-D584-4F51D3CF4327}"/>
              </a:ext>
            </a:extLst>
          </p:cNvPr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10017-E41F-67AA-8C53-7FB19DD92B4E}"/>
              </a:ext>
            </a:extLst>
          </p:cNvPr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덤프링 - 본인 인증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43B89-8E4E-477F-ED55-797703D4F616}"/>
              </a:ext>
            </a:extLst>
          </p:cNvPr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번호로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/</a:t>
            </a:r>
            <a:r>
              <a:rPr dirty="0" err="1"/>
              <a:t>로그인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4B443-1041-BA3F-198A-55DBFE782CDE}"/>
              </a:ext>
            </a:extLst>
          </p:cNvPr>
          <p:cNvSpPr txBox="1"/>
          <p:nvPr/>
        </p:nvSpPr>
        <p:spPr>
          <a:xfrm>
            <a:off x="553212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거래를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인증을</a:t>
            </a:r>
            <a:r>
              <a:rPr dirty="0"/>
              <a:t> </a:t>
            </a:r>
            <a:r>
              <a:rPr dirty="0" err="1"/>
              <a:t>진행합니다</a:t>
            </a:r>
            <a:r>
              <a:rPr dirty="0"/>
              <a:t>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AF6DFF-C90C-4609-B561-717CA51EF1F0}"/>
              </a:ext>
            </a:extLst>
          </p:cNvPr>
          <p:cNvSpPr/>
          <p:nvPr/>
        </p:nvSpPr>
        <p:spPr>
          <a:xfrm>
            <a:off x="5532120" y="2514600"/>
            <a:ext cx="2468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18DA1-B278-4AA9-3768-D92A1A85702F}"/>
              </a:ext>
            </a:extLst>
          </p:cNvPr>
          <p:cNvSpPr txBox="1"/>
          <p:nvPr/>
        </p:nvSpPr>
        <p:spPr>
          <a:xfrm>
            <a:off x="5623560" y="2606040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010-1234-5678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88CA07-DA01-01B8-3992-DA6B201A2F6D}"/>
              </a:ext>
            </a:extLst>
          </p:cNvPr>
          <p:cNvSpPr/>
          <p:nvPr/>
        </p:nvSpPr>
        <p:spPr>
          <a:xfrm>
            <a:off x="5532120" y="306324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F17AF-2EAA-CD18-1D91-10B45139D817}"/>
              </a:ext>
            </a:extLst>
          </p:cNvPr>
          <p:cNvSpPr txBox="1"/>
          <p:nvPr/>
        </p:nvSpPr>
        <p:spPr>
          <a:xfrm>
            <a:off x="5532120" y="315468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인증문자 발송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044B6A-6DD5-8672-330E-EC7B0100B608}"/>
              </a:ext>
            </a:extLst>
          </p:cNvPr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4EE6D0-2D76-E980-C0BE-0180E7AA49C3}"/>
              </a:ext>
            </a:extLst>
          </p:cNvPr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C415F3-E362-C5E5-E222-E0EEC526030F}"/>
              </a:ext>
            </a:extLst>
          </p:cNvPr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C80A2-0D35-D724-6B76-744CCFDB65C2}"/>
              </a:ext>
            </a:extLst>
          </p:cNvPr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덤프링 - 인증번호 입력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DD5DC-FC4A-3A53-7036-E844EEC0C7DC}"/>
              </a:ext>
            </a:extLst>
          </p:cNvPr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인증번호 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15EBB-9CBB-5282-44EE-03113175ECAF}"/>
              </a:ext>
            </a:extLst>
          </p:cNvPr>
          <p:cNvSpPr txBox="1"/>
          <p:nvPr/>
        </p:nvSpPr>
        <p:spPr>
          <a:xfrm>
            <a:off x="882396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문자로 전송된 6자리 숫자를 기입해 주세요.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4640176-9ED2-AF5D-BA3F-F75318FD701B}"/>
              </a:ext>
            </a:extLst>
          </p:cNvPr>
          <p:cNvSpPr/>
          <p:nvPr/>
        </p:nvSpPr>
        <p:spPr>
          <a:xfrm>
            <a:off x="882396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7F289D-45FD-7491-D730-7F917EE4DB1A}"/>
              </a:ext>
            </a:extLst>
          </p:cNvPr>
          <p:cNvSpPr txBox="1"/>
          <p:nvPr/>
        </p:nvSpPr>
        <p:spPr>
          <a:xfrm>
            <a:off x="882396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187BB4D-10DA-8850-E8FA-2DE7CB346AB0}"/>
              </a:ext>
            </a:extLst>
          </p:cNvPr>
          <p:cNvSpPr/>
          <p:nvPr/>
        </p:nvSpPr>
        <p:spPr>
          <a:xfrm>
            <a:off x="923544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9B8C95-73C4-462D-B76F-286F30A6DFE9}"/>
              </a:ext>
            </a:extLst>
          </p:cNvPr>
          <p:cNvSpPr txBox="1"/>
          <p:nvPr/>
        </p:nvSpPr>
        <p:spPr>
          <a:xfrm>
            <a:off x="923544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E7E2C2F-0FA4-E859-B9A2-471C98C152FE}"/>
              </a:ext>
            </a:extLst>
          </p:cNvPr>
          <p:cNvSpPr/>
          <p:nvPr/>
        </p:nvSpPr>
        <p:spPr>
          <a:xfrm>
            <a:off x="964692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DCD3B-7445-2508-74B1-C0378CBF612E}"/>
              </a:ext>
            </a:extLst>
          </p:cNvPr>
          <p:cNvSpPr txBox="1"/>
          <p:nvPr/>
        </p:nvSpPr>
        <p:spPr>
          <a:xfrm>
            <a:off x="964692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F350240-C244-AAF6-F8C8-B2C56DE8A7B5}"/>
              </a:ext>
            </a:extLst>
          </p:cNvPr>
          <p:cNvSpPr/>
          <p:nvPr/>
        </p:nvSpPr>
        <p:spPr>
          <a:xfrm>
            <a:off x="1005840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766BC-6D3C-A3E8-8AE9-E26782E103BB}"/>
              </a:ext>
            </a:extLst>
          </p:cNvPr>
          <p:cNvSpPr txBox="1"/>
          <p:nvPr/>
        </p:nvSpPr>
        <p:spPr>
          <a:xfrm>
            <a:off x="1005840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1B988C-F9E2-001B-A056-E42A1A8E89BB}"/>
              </a:ext>
            </a:extLst>
          </p:cNvPr>
          <p:cNvSpPr/>
          <p:nvPr/>
        </p:nvSpPr>
        <p:spPr>
          <a:xfrm>
            <a:off x="1046988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3C4A7-A59D-67F0-4D80-29774BE3ADB7}"/>
              </a:ext>
            </a:extLst>
          </p:cNvPr>
          <p:cNvSpPr txBox="1"/>
          <p:nvPr/>
        </p:nvSpPr>
        <p:spPr>
          <a:xfrm>
            <a:off x="1046988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CF680C5-0B95-BC08-0B79-B28F8E2C66DB}"/>
              </a:ext>
            </a:extLst>
          </p:cNvPr>
          <p:cNvSpPr/>
          <p:nvPr/>
        </p:nvSpPr>
        <p:spPr>
          <a:xfrm>
            <a:off x="1088136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84B0F-0843-372F-A73E-A341955EE5FF}"/>
              </a:ext>
            </a:extLst>
          </p:cNvPr>
          <p:cNvSpPr txBox="1"/>
          <p:nvPr/>
        </p:nvSpPr>
        <p:spPr>
          <a:xfrm>
            <a:off x="1088136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89ACF0-19E1-00EF-B069-DC047AB5AB46}"/>
              </a:ext>
            </a:extLst>
          </p:cNvPr>
          <p:cNvSpPr txBox="1"/>
          <p:nvPr/>
        </p:nvSpPr>
        <p:spPr>
          <a:xfrm>
            <a:off x="8823960" y="306324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EF4444"/>
                </a:solidFill>
                <a:latin typeface="Malgun Gothic"/>
              </a:defRPr>
            </a:pPr>
            <a:r>
              <a:t>남은 시간 02:45  |  인증번호 재전송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4E4DBB6-5FAC-FB66-68FA-79E21B144840}"/>
              </a:ext>
            </a:extLst>
          </p:cNvPr>
          <p:cNvSpPr/>
          <p:nvPr/>
        </p:nvSpPr>
        <p:spPr>
          <a:xfrm>
            <a:off x="8823960" y="36118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61B2E4-CC43-3CAA-89CE-327D8BFEE431}"/>
              </a:ext>
            </a:extLst>
          </p:cNvPr>
          <p:cNvSpPr txBox="1"/>
          <p:nvPr/>
        </p:nvSpPr>
        <p:spPr>
          <a:xfrm>
            <a:off x="8823960" y="37033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인증 및 완료</a:t>
            </a:r>
          </a:p>
        </p:txBody>
      </p:sp>
    </p:spTree>
    <p:extLst>
      <p:ext uri="{BB962C8B-B14F-4D97-AF65-F5344CB8AC3E}">
        <p14:creationId xmlns:p14="http://schemas.microsoft.com/office/powerpoint/2010/main" val="279119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9735-2A55-B076-C76D-E0FFB7EA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009AC948-26B7-8FA6-CD9F-FFCA7E0F29FA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9FDBB0-3C66-FDD1-A507-0C3DBD51F5C9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688E0-2079-C3AE-9165-3A77A5AF6B62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회원가입</a:t>
            </a: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67343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02. </a:t>
            </a:r>
            <a:r>
              <a:rPr dirty="0" err="1"/>
              <a:t>회원가입</a:t>
            </a:r>
            <a:r>
              <a:rPr dirty="0"/>
              <a:t> -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선택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3252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최초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시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지정</a:t>
            </a:r>
            <a:r>
              <a:rPr dirty="0"/>
              <a:t> </a:t>
            </a:r>
            <a:r>
              <a:rPr dirty="0" err="1"/>
              <a:t>상세</a:t>
            </a:r>
            <a:br>
              <a:rPr dirty="0"/>
            </a:br>
            <a:r>
              <a:rPr dirty="0"/>
              <a:t>- </a:t>
            </a:r>
            <a:r>
              <a:rPr dirty="0" err="1"/>
              <a:t>본인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후 </a:t>
            </a:r>
            <a:r>
              <a:rPr dirty="0" err="1"/>
              <a:t>최초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시 1회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지정</a:t>
            </a:r>
            <a:br>
              <a:rPr dirty="0"/>
            </a:br>
            <a:r>
              <a:rPr dirty="0"/>
              <a:t>- </a:t>
            </a:r>
            <a:r>
              <a:rPr dirty="0" err="1"/>
              <a:t>역할에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업로드해야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및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상이</a:t>
            </a:r>
            <a:br>
              <a:rPr dirty="0"/>
            </a:br>
            <a:r>
              <a:rPr dirty="0"/>
              <a:t>- </a:t>
            </a:r>
            <a:r>
              <a:rPr dirty="0" err="1"/>
              <a:t>오지정을</a:t>
            </a:r>
            <a:r>
              <a:rPr dirty="0"/>
              <a:t> </a:t>
            </a:r>
            <a:r>
              <a:rPr dirty="0" err="1"/>
              <a:t>방지하기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각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밑에</a:t>
            </a:r>
            <a:r>
              <a:rPr dirty="0"/>
              <a:t> </a:t>
            </a:r>
            <a:r>
              <a:rPr dirty="0" err="1"/>
              <a:t>명확한</a:t>
            </a:r>
            <a:r>
              <a:rPr dirty="0"/>
              <a:t> 한 줄 </a:t>
            </a:r>
            <a:r>
              <a:rPr dirty="0" err="1"/>
              <a:t>가이드라인</a:t>
            </a:r>
            <a:r>
              <a:rPr dirty="0"/>
              <a:t> </a:t>
            </a:r>
            <a:r>
              <a:rPr dirty="0" err="1"/>
              <a:t>배치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 및 </a:t>
            </a:r>
            <a:r>
              <a:rPr dirty="0" err="1"/>
              <a:t>가이드</a:t>
            </a:r>
            <a:br>
              <a:rPr dirty="0"/>
            </a:br>
            <a:r>
              <a:rPr dirty="0"/>
              <a:t>1. </a:t>
            </a:r>
            <a:r>
              <a:rPr dirty="0" err="1"/>
              <a:t>기사</a:t>
            </a:r>
            <a:r>
              <a:rPr dirty="0"/>
              <a:t>: </a:t>
            </a:r>
            <a:r>
              <a:rPr dirty="0" err="1"/>
              <a:t>현장에서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미터기를</a:t>
            </a:r>
            <a:r>
              <a:rPr dirty="0"/>
              <a:t> </a:t>
            </a:r>
            <a:r>
              <a:rPr dirty="0" err="1"/>
              <a:t>켜고</a:t>
            </a:r>
            <a:r>
              <a:rPr dirty="0"/>
              <a:t> </a:t>
            </a:r>
            <a:r>
              <a:rPr dirty="0" err="1"/>
              <a:t>운행을</a:t>
            </a:r>
            <a:r>
              <a:rPr dirty="0"/>
              <a:t> </a:t>
            </a:r>
            <a:r>
              <a:rPr dirty="0" err="1"/>
              <a:t>하시는</a:t>
            </a:r>
            <a:r>
              <a:rPr dirty="0"/>
              <a:t> </a:t>
            </a:r>
            <a:r>
              <a:rPr dirty="0" err="1"/>
              <a:t>기사님</a:t>
            </a:r>
            <a:br>
              <a:rPr dirty="0"/>
            </a:br>
            <a:r>
              <a:rPr dirty="0"/>
              <a:t>2. </a:t>
            </a:r>
            <a:r>
              <a:rPr dirty="0" err="1"/>
              <a:t>차주</a:t>
            </a:r>
            <a:r>
              <a:rPr dirty="0"/>
              <a:t>: </a:t>
            </a:r>
            <a:r>
              <a:rPr dirty="0" err="1"/>
              <a:t>트럭을</a:t>
            </a:r>
            <a:r>
              <a:rPr dirty="0"/>
              <a:t> </a:t>
            </a:r>
            <a:r>
              <a:rPr dirty="0" err="1"/>
              <a:t>소유하고</a:t>
            </a:r>
            <a:r>
              <a:rPr dirty="0"/>
              <a:t>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및 </a:t>
            </a:r>
            <a:r>
              <a:rPr dirty="0" err="1"/>
              <a:t>차량을</a:t>
            </a:r>
            <a:r>
              <a:rPr dirty="0"/>
              <a:t> </a:t>
            </a:r>
            <a:r>
              <a:rPr dirty="0" err="1"/>
              <a:t>관리하시는</a:t>
            </a:r>
            <a:r>
              <a:rPr dirty="0"/>
              <a:t> </a:t>
            </a:r>
            <a:r>
              <a:rPr dirty="0" err="1"/>
              <a:t>사장님</a:t>
            </a:r>
            <a:br>
              <a:rPr dirty="0"/>
            </a:br>
            <a:r>
              <a:rPr dirty="0"/>
              <a:t>3.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: </a:t>
            </a:r>
            <a:r>
              <a:rPr dirty="0" err="1"/>
              <a:t>공사현장</a:t>
            </a:r>
            <a:r>
              <a:rPr dirty="0"/>
              <a:t> </a:t>
            </a:r>
            <a:r>
              <a:rPr dirty="0" err="1"/>
              <a:t>개설</a:t>
            </a:r>
            <a:r>
              <a:rPr dirty="0"/>
              <a:t> 및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오더를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발행하는</a:t>
            </a:r>
            <a:r>
              <a:rPr dirty="0"/>
              <a:t> </a:t>
            </a:r>
            <a:r>
              <a:rPr dirty="0" err="1"/>
              <a:t>소장</a:t>
            </a:r>
            <a:br>
              <a:rPr dirty="0"/>
            </a:br>
            <a:r>
              <a:rPr dirty="0"/>
              <a:t>4.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: </a:t>
            </a:r>
            <a:r>
              <a:rPr dirty="0" err="1"/>
              <a:t>현장차량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및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완료를</a:t>
            </a:r>
            <a:r>
              <a:rPr dirty="0"/>
              <a:t> </a:t>
            </a:r>
            <a:r>
              <a:rPr dirty="0" err="1"/>
              <a:t>체크하는</a:t>
            </a:r>
            <a:r>
              <a:rPr dirty="0"/>
              <a:t> </a:t>
            </a:r>
            <a:r>
              <a:rPr dirty="0" err="1"/>
              <a:t>직원</a:t>
            </a:r>
            <a:br>
              <a:rPr dirty="0"/>
            </a:br>
            <a:r>
              <a:rPr dirty="0"/>
              <a:t>5. </a:t>
            </a:r>
            <a:r>
              <a:rPr dirty="0" err="1"/>
              <a:t>하차지</a:t>
            </a:r>
            <a:r>
              <a:rPr dirty="0"/>
              <a:t> : </a:t>
            </a:r>
            <a:r>
              <a:rPr dirty="0" err="1"/>
              <a:t>사토장을</a:t>
            </a:r>
            <a:r>
              <a:rPr dirty="0"/>
              <a:t> </a:t>
            </a:r>
            <a:r>
              <a:rPr dirty="0" err="1"/>
              <a:t>소유하고</a:t>
            </a:r>
            <a:r>
              <a:rPr dirty="0"/>
              <a:t> 흙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지주</a:t>
            </a:r>
            <a:endParaRPr dirty="0"/>
          </a:p>
        </p:txBody>
      </p:sp>
      <p:sp>
        <p:nvSpPr>
          <p:cNvPr id="26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5"/>
          <p:cNvSpPr/>
          <p:nvPr/>
        </p:nvSpPr>
        <p:spPr>
          <a:xfrm>
            <a:off x="5440680" y="822960"/>
            <a:ext cx="26517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6"/>
          <p:cNvSpPr/>
          <p:nvPr/>
        </p:nvSpPr>
        <p:spPr>
          <a:xfrm>
            <a:off x="5440680" y="822960"/>
            <a:ext cx="265176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932688"/>
            <a:ext cx="2286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덤프링</a:t>
            </a:r>
            <a:r>
              <a:rPr dirty="0"/>
              <a:t> - </a:t>
            </a:r>
            <a:r>
              <a:rPr lang="ko-KR" altLang="en-US" dirty="0"/>
              <a:t>회원가입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623560" y="17373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Malgun Gothic"/>
              </a:defRPr>
            </a:pPr>
            <a:r>
              <a:t>반갑습니다!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21031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휴대폰 번호로 시작해 보세요.</a:t>
            </a:r>
          </a:p>
        </p:txBody>
      </p:sp>
      <p:sp>
        <p:nvSpPr>
          <p:cNvPr id="32" name="Rounded Rectangle 10"/>
          <p:cNvSpPr/>
          <p:nvPr/>
        </p:nvSpPr>
        <p:spPr>
          <a:xfrm>
            <a:off x="5623560" y="2926080"/>
            <a:ext cx="2286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301752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휴대폰 번호 입력 (- 제외)</a:t>
            </a:r>
          </a:p>
        </p:txBody>
      </p:sp>
      <p:sp>
        <p:nvSpPr>
          <p:cNvPr id="34" name="Rounded Rectangle 12"/>
          <p:cNvSpPr/>
          <p:nvPr/>
        </p:nvSpPr>
        <p:spPr>
          <a:xfrm>
            <a:off x="5623560" y="3566160"/>
            <a:ext cx="22860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235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인증번호 받기</a:t>
            </a:r>
          </a:p>
        </p:txBody>
      </p:sp>
      <p:sp>
        <p:nvSpPr>
          <p:cNvPr id="36" name="Rounded Rectangle 14"/>
          <p:cNvSpPr/>
          <p:nvPr/>
        </p:nvSpPr>
        <p:spPr>
          <a:xfrm>
            <a:off x="8686800" y="457200"/>
            <a:ext cx="292608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5"/>
          <p:cNvSpPr/>
          <p:nvPr/>
        </p:nvSpPr>
        <p:spPr>
          <a:xfrm>
            <a:off x="8823960" y="822960"/>
            <a:ext cx="26517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/>
          <p:cNvSpPr/>
          <p:nvPr/>
        </p:nvSpPr>
        <p:spPr>
          <a:xfrm>
            <a:off x="8823960" y="822960"/>
            <a:ext cx="265176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932688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덤프링 - 역할 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15544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어떤 역할로 가입하시겠습니까?</a:t>
            </a:r>
          </a:p>
        </p:txBody>
      </p:sp>
      <p:sp>
        <p:nvSpPr>
          <p:cNvPr id="41" name="Rounded Rectangle 19"/>
          <p:cNvSpPr/>
          <p:nvPr/>
        </p:nvSpPr>
        <p:spPr>
          <a:xfrm>
            <a:off x="8961120" y="2011680"/>
            <a:ext cx="237744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98280" y="21945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🚜 덤프 기사</a:t>
            </a:r>
          </a:p>
        </p:txBody>
      </p:sp>
      <p:sp>
        <p:nvSpPr>
          <p:cNvPr id="43" name="Rounded Rectangle 21"/>
          <p:cNvSpPr/>
          <p:nvPr/>
        </p:nvSpPr>
        <p:spPr>
          <a:xfrm>
            <a:off x="8961120" y="283464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301752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🏢 덤프 차주</a:t>
            </a:r>
          </a:p>
        </p:txBody>
      </p:sp>
      <p:sp>
        <p:nvSpPr>
          <p:cNvPr id="45" name="Rounded Rectangle 23"/>
          <p:cNvSpPr/>
          <p:nvPr/>
        </p:nvSpPr>
        <p:spPr>
          <a:xfrm>
            <a:off x="8961120" y="365760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98280" y="384048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🏗️ 현장 관리자 (소장)</a:t>
            </a:r>
          </a:p>
        </p:txBody>
      </p:sp>
      <p:sp>
        <p:nvSpPr>
          <p:cNvPr id="47" name="Rounded Rectangle 25"/>
          <p:cNvSpPr/>
          <p:nvPr/>
        </p:nvSpPr>
        <p:spPr>
          <a:xfrm>
            <a:off x="8961120" y="448056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8280" y="466344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👷 현장 담당자 (직원)</a:t>
            </a:r>
          </a:p>
        </p:txBody>
      </p:sp>
      <p:sp>
        <p:nvSpPr>
          <p:cNvPr id="49" name="Rounded Rectangle 27"/>
          <p:cNvSpPr/>
          <p:nvPr/>
        </p:nvSpPr>
        <p:spPr>
          <a:xfrm>
            <a:off x="8961120" y="530352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9828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🏕️ 하차지 이용자 (지주)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6178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프로세스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정의</a:t>
            </a: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lang="ko-KR" altLang="en-US" dirty="0"/>
              <a:t>안 휴대폰 본인인증</a:t>
            </a:r>
            <a:br>
              <a:rPr dirty="0"/>
            </a:br>
            <a:r>
              <a:rPr dirty="0"/>
              <a:t>1단계: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 -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관계없이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사용자는</a:t>
            </a:r>
            <a:r>
              <a:rPr dirty="0"/>
              <a:t>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번호로</a:t>
            </a:r>
            <a:r>
              <a:rPr dirty="0"/>
              <a:t> </a:t>
            </a:r>
            <a:r>
              <a:rPr dirty="0" err="1"/>
              <a:t>시작</a:t>
            </a:r>
            <a:br>
              <a:rPr dirty="0"/>
            </a:br>
            <a:r>
              <a:rPr dirty="0"/>
              <a:t>   - '010-1234-5678' </a:t>
            </a:r>
            <a:r>
              <a:rPr dirty="0" err="1"/>
              <a:t>형식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대시</a:t>
            </a:r>
            <a:r>
              <a:rPr dirty="0"/>
              <a:t>(-) </a:t>
            </a:r>
            <a:r>
              <a:rPr dirty="0" err="1"/>
              <a:t>부여</a:t>
            </a:r>
            <a:br>
              <a:rPr dirty="0"/>
            </a:br>
            <a:r>
              <a:rPr dirty="0"/>
              <a:t>2단계: </a:t>
            </a:r>
            <a:r>
              <a:rPr dirty="0" err="1"/>
              <a:t>인증번호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   - </a:t>
            </a:r>
            <a:r>
              <a:rPr dirty="0" err="1"/>
              <a:t>문자</a:t>
            </a:r>
            <a:r>
              <a:rPr dirty="0"/>
              <a:t>(SMS)로 </a:t>
            </a:r>
            <a:r>
              <a:rPr dirty="0" err="1"/>
              <a:t>발송된</a:t>
            </a:r>
            <a:r>
              <a:rPr dirty="0"/>
              <a:t> 6자리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  </a:t>
            </a:r>
            <a:br>
              <a:rPr dirty="0"/>
            </a:br>
            <a:r>
              <a:rPr dirty="0"/>
              <a:t>   -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오기입</a:t>
            </a:r>
            <a:r>
              <a:rPr dirty="0"/>
              <a:t> 시 </a:t>
            </a:r>
            <a:r>
              <a:rPr dirty="0" err="1"/>
              <a:t>재전송</a:t>
            </a:r>
            <a:r>
              <a:rPr dirty="0"/>
              <a:t> 및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초기화</a:t>
            </a:r>
            <a:r>
              <a:rPr dirty="0"/>
              <a:t> </a:t>
            </a:r>
            <a:r>
              <a:rPr dirty="0" err="1"/>
              <a:t>지원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lang="ko-KR" altLang="en-US" dirty="0"/>
              <a:t>안 </a:t>
            </a:r>
            <a:r>
              <a:rPr lang="en-US" altLang="ko-KR" dirty="0"/>
              <a:t>PASS </a:t>
            </a:r>
            <a:r>
              <a:rPr lang="ko-KR" altLang="en-US" dirty="0"/>
              <a:t>인증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endParaRPr lang="en-US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lang="ko-KR" altLang="en-US" dirty="0"/>
              <a:t>안 카카오</a:t>
            </a:r>
            <a:r>
              <a:rPr lang="en-US" altLang="ko-KR" dirty="0"/>
              <a:t>,</a:t>
            </a:r>
            <a:r>
              <a:rPr lang="ko-KR" altLang="en-US" dirty="0"/>
              <a:t>네이버 인증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</a:t>
            </a:r>
            <a:r>
              <a:rPr dirty="0" err="1"/>
              <a:t>흐름</a:t>
            </a:r>
            <a:br>
              <a:rPr dirty="0"/>
            </a:br>
            <a:r>
              <a:rPr dirty="0"/>
              <a:t>-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시 </a:t>
            </a:r>
            <a:r>
              <a:rPr dirty="0" err="1"/>
              <a:t>서버에서</a:t>
            </a:r>
            <a:r>
              <a:rPr dirty="0"/>
              <a:t> 기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검사</a:t>
            </a:r>
            <a:br>
              <a:rPr dirty="0"/>
            </a:br>
            <a:r>
              <a:rPr dirty="0"/>
              <a:t>  - [</a:t>
            </a:r>
            <a:r>
              <a:rPr dirty="0" err="1"/>
              <a:t>가존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]: </a:t>
            </a:r>
            <a:r>
              <a:rPr dirty="0" err="1"/>
              <a:t>최종</a:t>
            </a:r>
            <a:r>
              <a:rPr dirty="0"/>
              <a:t>  </a:t>
            </a:r>
            <a:r>
              <a:rPr dirty="0" err="1"/>
              <a:t>역할의</a:t>
            </a:r>
            <a:r>
              <a:rPr dirty="0"/>
              <a:t> </a:t>
            </a:r>
            <a:r>
              <a:rPr dirty="0" err="1"/>
              <a:t>메인</a:t>
            </a:r>
            <a:r>
              <a:rPr dirty="0"/>
              <a:t> 홈 </a:t>
            </a:r>
            <a:r>
              <a:rPr dirty="0" err="1"/>
              <a:t>대시보드로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  - [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]: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(Slide 3)로 </a:t>
            </a:r>
            <a:r>
              <a:rPr dirty="0" err="1"/>
              <a:t>이관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덤프링 - 본인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휴대폰 번호로 가입/로그인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거래를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인증을</a:t>
            </a:r>
            <a:r>
              <a:rPr dirty="0"/>
              <a:t> </a:t>
            </a:r>
            <a:r>
              <a:rPr dirty="0" err="1"/>
              <a:t>진행합니다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514600"/>
            <a:ext cx="2468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010-1234-5678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06324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315468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인증문자 발송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덤프링 - 인증번호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인증번호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문자로 전송된 6자리 숫자를 기입해 주세요.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6988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6988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0" y="2514600"/>
            <a:ext cx="34747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81360" y="2587752"/>
            <a:ext cx="347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06324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EF4444"/>
                </a:solidFill>
                <a:latin typeface="Malgun Gothic"/>
              </a:defRPr>
            </a:pPr>
            <a:r>
              <a:t>남은 시간 02:45  |  인증번호 재전송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6118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37033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인증 및 완료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F036D6-B19B-04B3-3F4B-17F1966F2978}"/>
              </a:ext>
            </a:extLst>
          </p:cNvPr>
          <p:cNvSpPr txBox="1"/>
          <p:nvPr/>
        </p:nvSpPr>
        <p:spPr>
          <a:xfrm>
            <a:off x="731520" y="731520"/>
            <a:ext cx="45720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02. </a:t>
            </a:r>
            <a:r>
              <a:rPr dirty="0" err="1"/>
              <a:t>회원가입</a:t>
            </a:r>
            <a:r>
              <a:rPr dirty="0"/>
              <a:t> -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선택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03. 덤프 기사 (Driver) 회원가입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71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요구사항</a:t>
            </a:r>
            <a:br>
              <a:rPr dirty="0"/>
            </a:br>
            <a:r>
              <a:rPr dirty="0"/>
              <a:t>-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인적사항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및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3대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구성</a:t>
            </a:r>
            <a:br>
              <a:rPr dirty="0"/>
            </a:br>
            <a:r>
              <a:rPr dirty="0"/>
              <a:t>- </a:t>
            </a:r>
            <a:r>
              <a:rPr dirty="0" err="1"/>
              <a:t>제출된</a:t>
            </a:r>
            <a:r>
              <a:rPr dirty="0"/>
              <a:t> </a:t>
            </a:r>
            <a:r>
              <a:rPr dirty="0" err="1"/>
              <a:t>서류는</a:t>
            </a:r>
            <a:r>
              <a:rPr dirty="0"/>
              <a:t>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후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수락</a:t>
            </a:r>
            <a:r>
              <a:rPr dirty="0"/>
              <a:t> </a:t>
            </a:r>
            <a:r>
              <a:rPr dirty="0" err="1"/>
              <a:t>권한</a:t>
            </a:r>
            <a:r>
              <a:rPr dirty="0"/>
              <a:t> </a:t>
            </a:r>
            <a:r>
              <a:rPr dirty="0" err="1"/>
              <a:t>활성화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 및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명세</a:t>
            </a:r>
            <a:br>
              <a:rPr dirty="0"/>
            </a:br>
            <a:r>
              <a:rPr dirty="0"/>
              <a:t>1. </a:t>
            </a:r>
            <a:r>
              <a:rPr dirty="0" err="1"/>
              <a:t>기사명</a:t>
            </a:r>
            <a:r>
              <a:rPr dirty="0"/>
              <a:t> (</a:t>
            </a:r>
            <a:r>
              <a:rPr dirty="0" err="1"/>
              <a:t>실명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)</a:t>
            </a:r>
            <a:br>
              <a:rPr dirty="0"/>
            </a:br>
            <a:r>
              <a:rPr dirty="0"/>
              <a:t>2.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(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)</a:t>
            </a:r>
            <a:br>
              <a:rPr dirty="0"/>
            </a:br>
            <a:r>
              <a:rPr dirty="0"/>
              <a:t>3. 3대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(</a:t>
            </a:r>
            <a:r>
              <a:rPr dirty="0" err="1"/>
              <a:t>카메라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첨부</a:t>
            </a:r>
            <a:r>
              <a:rPr dirty="0"/>
              <a:t>):</a:t>
            </a:r>
            <a:br>
              <a:rPr dirty="0"/>
            </a:br>
            <a:r>
              <a:rPr dirty="0"/>
              <a:t>   - 1종 </a:t>
            </a:r>
            <a:r>
              <a:rPr dirty="0" err="1"/>
              <a:t>대형</a:t>
            </a:r>
            <a:r>
              <a:rPr dirty="0"/>
              <a:t> </a:t>
            </a:r>
            <a:r>
              <a:rPr dirty="0" err="1"/>
              <a:t>운전면허증</a:t>
            </a:r>
            <a:br>
              <a:rPr dirty="0"/>
            </a:br>
            <a:r>
              <a:rPr dirty="0"/>
              <a:t>   - </a:t>
            </a:r>
            <a:r>
              <a:rPr dirty="0" err="1"/>
              <a:t>화물자동차</a:t>
            </a:r>
            <a:r>
              <a:rPr dirty="0"/>
              <a:t> </a:t>
            </a:r>
            <a:r>
              <a:rPr dirty="0" err="1"/>
              <a:t>운송종사자</a:t>
            </a:r>
            <a:r>
              <a:rPr dirty="0"/>
              <a:t> </a:t>
            </a:r>
            <a:r>
              <a:rPr dirty="0" err="1"/>
              <a:t>자격증</a:t>
            </a:r>
            <a:br>
              <a:rPr dirty="0"/>
            </a:br>
            <a:r>
              <a:rPr dirty="0"/>
              <a:t>   - </a:t>
            </a:r>
            <a:r>
              <a:rPr dirty="0" err="1"/>
              <a:t>정산용</a:t>
            </a:r>
            <a:r>
              <a:rPr dirty="0"/>
              <a:t> </a:t>
            </a:r>
            <a:r>
              <a:rPr dirty="0" err="1"/>
              <a:t>본인</a:t>
            </a:r>
            <a:r>
              <a:rPr dirty="0"/>
              <a:t> </a:t>
            </a:r>
            <a:r>
              <a:rPr dirty="0" err="1"/>
              <a:t>명의</a:t>
            </a:r>
            <a:r>
              <a:rPr dirty="0"/>
              <a:t> </a:t>
            </a:r>
            <a:r>
              <a:rPr dirty="0" err="1"/>
              <a:t>통장</a:t>
            </a:r>
            <a:r>
              <a:rPr dirty="0"/>
              <a:t> </a:t>
            </a:r>
            <a:r>
              <a:rPr dirty="0" err="1"/>
              <a:t>사본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관리</a:t>
            </a:r>
            <a:br>
              <a:rPr dirty="0"/>
            </a:br>
            <a:r>
              <a:rPr dirty="0"/>
              <a:t>- </a:t>
            </a:r>
            <a:r>
              <a:rPr dirty="0" err="1"/>
              <a:t>최초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후 [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]로 </a:t>
            </a:r>
            <a:r>
              <a:rPr dirty="0" err="1"/>
              <a:t>진입하며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시 '</a:t>
            </a:r>
            <a:r>
              <a:rPr dirty="0" err="1"/>
              <a:t>심사</a:t>
            </a:r>
            <a:r>
              <a:rPr dirty="0"/>
              <a:t> 중' </a:t>
            </a:r>
            <a:r>
              <a:rPr dirty="0" err="1"/>
              <a:t>서브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노출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기사 가입 - 정보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기사 정보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기사명 (실명)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24028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31343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홍길동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7889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면허 등급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06324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3136391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1종 대형 면허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다음 단계로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기사 가입 - 서류 제출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필수 서류 업로드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기사 승인을 위한 필수 파일 3종을 첨부해 주세요.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148840"/>
            <a:ext cx="246888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21240" y="235458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35540" y="226314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258318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운전면허증 사본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154680"/>
            <a:ext cx="246888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21240" y="336042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35540" y="326898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358902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화물운송자격증 사본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160520"/>
            <a:ext cx="246888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921240" y="436626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035540" y="427482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459486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기사 본인 명의 통장 사본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396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제출 및 가입 신청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04. 덤프 차주 (Owner) 회원가입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26280" cy="41562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요구사항</a:t>
            </a:r>
            <a:br>
              <a:rPr dirty="0"/>
            </a:br>
            <a:r>
              <a:rPr dirty="0"/>
              <a:t>-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및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청구</a:t>
            </a:r>
            <a:r>
              <a:rPr dirty="0"/>
              <a:t> </a:t>
            </a:r>
            <a:r>
              <a:rPr dirty="0" err="1"/>
              <a:t>주체로서</a:t>
            </a:r>
            <a:r>
              <a:rPr dirty="0"/>
              <a:t> </a:t>
            </a:r>
            <a:r>
              <a:rPr dirty="0" err="1"/>
              <a:t>사업체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구성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명의와</a:t>
            </a:r>
            <a:r>
              <a:rPr dirty="0"/>
              <a:t> </a:t>
            </a:r>
            <a:r>
              <a:rPr dirty="0" err="1"/>
              <a:t>사업자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후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및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오픈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 및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명세</a:t>
            </a:r>
            <a:br>
              <a:rPr dirty="0"/>
            </a:br>
            <a:r>
              <a:rPr dirty="0"/>
              <a:t>1. </a:t>
            </a:r>
            <a:r>
              <a:rPr dirty="0" err="1"/>
              <a:t>상호명</a:t>
            </a:r>
            <a:r>
              <a:rPr dirty="0"/>
              <a:t> (</a:t>
            </a:r>
            <a:r>
              <a:rPr dirty="0" err="1"/>
              <a:t>사업체</a:t>
            </a:r>
            <a:r>
              <a:rPr dirty="0"/>
              <a:t> </a:t>
            </a:r>
            <a:r>
              <a:rPr dirty="0" err="1"/>
              <a:t>명칭</a:t>
            </a:r>
            <a:r>
              <a:rPr dirty="0"/>
              <a:t>)</a:t>
            </a:r>
            <a:br>
              <a:rPr dirty="0"/>
            </a:br>
            <a:r>
              <a:rPr dirty="0"/>
              <a:t>2. </a:t>
            </a:r>
            <a:r>
              <a:rPr dirty="0" err="1"/>
              <a:t>대표자명</a:t>
            </a:r>
            <a:br>
              <a:rPr dirty="0"/>
            </a:br>
            <a:r>
              <a:rPr dirty="0"/>
              <a:t>3. </a:t>
            </a:r>
            <a:r>
              <a:rPr dirty="0" err="1"/>
              <a:t>사업자등록번호</a:t>
            </a:r>
            <a:br>
              <a:rPr dirty="0"/>
            </a:br>
            <a:r>
              <a:rPr dirty="0"/>
              <a:t>4.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사업자등록증</a:t>
            </a:r>
            <a:r>
              <a:rPr dirty="0"/>
              <a:t> </a:t>
            </a:r>
            <a:r>
              <a:rPr dirty="0" err="1"/>
              <a:t>사본</a:t>
            </a:r>
            <a:br>
              <a:rPr dirty="0"/>
            </a:br>
            <a:r>
              <a:rPr dirty="0"/>
              <a:t>   - </a:t>
            </a:r>
            <a:r>
              <a:rPr dirty="0" err="1"/>
              <a:t>정산</a:t>
            </a:r>
            <a:r>
              <a:rPr dirty="0"/>
              <a:t> 및 </a:t>
            </a:r>
            <a:r>
              <a:rPr dirty="0" err="1"/>
              <a:t>청구용</a:t>
            </a:r>
            <a:r>
              <a:rPr dirty="0"/>
              <a:t> </a:t>
            </a:r>
            <a:r>
              <a:rPr dirty="0" err="1"/>
              <a:t>회사</a:t>
            </a:r>
            <a:r>
              <a:rPr dirty="0"/>
              <a:t>/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명의</a:t>
            </a:r>
            <a:r>
              <a:rPr dirty="0"/>
              <a:t> </a:t>
            </a:r>
            <a:r>
              <a:rPr dirty="0" err="1"/>
              <a:t>통장</a:t>
            </a:r>
            <a:r>
              <a:rPr dirty="0"/>
              <a:t> </a:t>
            </a:r>
            <a:r>
              <a:rPr dirty="0" err="1"/>
              <a:t>사본</a:t>
            </a:r>
            <a:br>
              <a:rPr dirty="0"/>
            </a:br>
            <a:br>
              <a:rPr dirty="0"/>
            </a:br>
            <a:r>
              <a:rPr dirty="0"/>
              <a:t>■ UI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요점</a:t>
            </a:r>
            <a:br>
              <a:rPr dirty="0"/>
            </a:br>
            <a:r>
              <a:rPr dirty="0"/>
              <a:t>- </a:t>
            </a:r>
            <a:r>
              <a:rPr dirty="0" err="1"/>
              <a:t>개인사업자와</a:t>
            </a:r>
            <a:r>
              <a:rPr dirty="0"/>
              <a:t> </a:t>
            </a:r>
            <a:r>
              <a:rPr dirty="0" err="1"/>
              <a:t>법인사업자</a:t>
            </a:r>
            <a:r>
              <a:rPr dirty="0"/>
              <a:t> </a:t>
            </a:r>
            <a:r>
              <a:rPr dirty="0" err="1"/>
              <a:t>구분을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최상단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 </a:t>
            </a:r>
            <a:r>
              <a:rPr dirty="0" err="1"/>
              <a:t>스위치</a:t>
            </a:r>
            <a:r>
              <a:rPr dirty="0"/>
              <a:t> </a:t>
            </a:r>
            <a:r>
              <a:rPr dirty="0" err="1"/>
              <a:t>도입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차주 가입 - 사업자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사업자 정보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74520"/>
            <a:ext cx="246888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2120" y="1874520"/>
            <a:ext cx="12344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1965960"/>
            <a:ext cx="1234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개인사업자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234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법인사업자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4231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상호명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69748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2770632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(주) 대박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246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사업자등록번호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52044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23560" y="3593592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120-81-12345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다음 단계로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차주 가입 - 서류 제출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사업자 서류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정산 및 세무 증빙 서류 2종을 등록해 주세요.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224028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21240" y="260604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35540" y="251460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사업자등록증 사본 업로드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361188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921240" y="397764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035540" y="388620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42062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통장 사본 업로드 (상호명/대표자 일치)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396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제출 및 가입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05. 현장 관리자 (소장) 회원가입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38792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요구사항</a:t>
            </a:r>
            <a:br>
              <a:rPr dirty="0"/>
            </a:br>
            <a:r>
              <a:rPr dirty="0"/>
              <a:t>- </a:t>
            </a:r>
            <a:r>
              <a:rPr dirty="0" err="1"/>
              <a:t>공사현장을</a:t>
            </a:r>
            <a:r>
              <a:rPr dirty="0"/>
              <a:t> </a:t>
            </a:r>
            <a:r>
              <a:rPr dirty="0" err="1"/>
              <a:t>개설하고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오더를</a:t>
            </a:r>
            <a:r>
              <a:rPr dirty="0"/>
              <a:t> </a:t>
            </a:r>
            <a:r>
              <a:rPr dirty="0" err="1"/>
              <a:t>발행하는</a:t>
            </a:r>
            <a:r>
              <a:rPr dirty="0"/>
              <a:t> </a:t>
            </a:r>
            <a:r>
              <a:rPr dirty="0" err="1"/>
              <a:t>주체</a:t>
            </a:r>
            <a:br>
              <a:rPr dirty="0"/>
            </a:br>
            <a:r>
              <a:rPr dirty="0"/>
              <a:t>- </a:t>
            </a:r>
            <a:r>
              <a:rPr dirty="0" err="1"/>
              <a:t>건설사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및 </a:t>
            </a:r>
            <a:r>
              <a:rPr dirty="0" err="1"/>
              <a:t>최초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1개를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등록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 및 </a:t>
            </a:r>
            <a:r>
              <a:rPr dirty="0" err="1"/>
              <a:t>프로세스</a:t>
            </a:r>
            <a:br>
              <a:rPr dirty="0"/>
            </a:br>
            <a:r>
              <a:rPr dirty="0"/>
              <a:t>1.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건설사명</a:t>
            </a:r>
            <a:br>
              <a:rPr dirty="0"/>
            </a:br>
            <a:r>
              <a:rPr dirty="0"/>
              <a:t>2.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개설할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 및 </a:t>
            </a:r>
            <a:r>
              <a:rPr dirty="0" err="1"/>
              <a:t>명칭</a:t>
            </a:r>
            <a:br>
              <a:rPr dirty="0"/>
            </a:br>
            <a:r>
              <a:rPr dirty="0"/>
              <a:t>3.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(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) </a:t>
            </a: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(</a:t>
            </a:r>
            <a:r>
              <a:rPr dirty="0" err="1"/>
              <a:t>기본</a:t>
            </a:r>
            <a:r>
              <a:rPr dirty="0"/>
              <a:t> 200m)</a:t>
            </a:r>
            <a:br>
              <a:rPr dirty="0"/>
            </a:br>
            <a:r>
              <a:rPr dirty="0"/>
              <a:t>4.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: </a:t>
            </a:r>
            <a:r>
              <a:rPr dirty="0" err="1"/>
              <a:t>건설업</a:t>
            </a:r>
            <a:r>
              <a:rPr dirty="0"/>
              <a:t> </a:t>
            </a:r>
            <a:r>
              <a:rPr dirty="0" err="1"/>
              <a:t>등록증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계약</a:t>
            </a:r>
            <a:r>
              <a:rPr dirty="0"/>
              <a:t> </a:t>
            </a:r>
            <a:r>
              <a:rPr dirty="0" err="1"/>
              <a:t>공문서</a:t>
            </a:r>
            <a:br>
              <a:rPr dirty="0"/>
            </a:br>
            <a:br>
              <a:rPr dirty="0"/>
            </a:br>
            <a:r>
              <a:rPr dirty="0"/>
              <a:t>■ UI/UX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요점</a:t>
            </a:r>
            <a:br>
              <a:rPr dirty="0"/>
            </a:br>
            <a:r>
              <a:rPr dirty="0"/>
              <a:t>-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기반의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기능과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배치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소장 가입 - 회사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현장 관리자 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0574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소속 건설사명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33172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40487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대우건설 (주)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8803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현장 직급/직책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15468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322783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현장 소장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다음 (현장 등록)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소장 가입 - 현장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신규 공사현장 개설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8745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공사 현장명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10312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15400" y="217627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송도 1공구 아파트 신축 현장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606040"/>
            <a:ext cx="246888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3063240"/>
            <a:ext cx="23774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지도 주소 검색 및 지오펜싱 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8862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출입 인식 반경 설정: 200m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4160520"/>
            <a:ext cx="246888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0" y="4087368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60" y="4434840"/>
            <a:ext cx="246888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21240" y="464058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35540" y="454914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486918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공사현장 허가 공문 첨부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2396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가입 및 현장 개설 신청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06. 현장 담당자 (직원) 회원가입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562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요구사항</a:t>
            </a:r>
            <a:br>
              <a:rPr dirty="0"/>
            </a:br>
            <a:r>
              <a:rPr dirty="0"/>
              <a:t>- </a:t>
            </a:r>
            <a:r>
              <a:rPr dirty="0" err="1"/>
              <a:t>게이트에서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입출차를</a:t>
            </a:r>
            <a:r>
              <a:rPr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기록하는</a:t>
            </a:r>
            <a:r>
              <a:rPr dirty="0"/>
              <a:t> </a:t>
            </a:r>
            <a:r>
              <a:rPr dirty="0" err="1"/>
              <a:t>직원</a:t>
            </a:r>
            <a:r>
              <a:rPr dirty="0"/>
              <a:t> </a:t>
            </a:r>
            <a:r>
              <a:rPr dirty="0" err="1"/>
              <a:t>역할</a:t>
            </a:r>
            <a:br>
              <a:rPr dirty="0"/>
            </a:br>
            <a:r>
              <a:rPr dirty="0"/>
              <a:t>- </a:t>
            </a:r>
            <a:r>
              <a:rPr dirty="0" err="1"/>
              <a:t>가입</a:t>
            </a:r>
            <a:r>
              <a:rPr dirty="0"/>
              <a:t> 시 </a:t>
            </a:r>
            <a:r>
              <a:rPr dirty="0" err="1"/>
              <a:t>본인의</a:t>
            </a:r>
            <a:r>
              <a:rPr dirty="0"/>
              <a:t> </a:t>
            </a:r>
            <a:r>
              <a:rPr dirty="0" err="1"/>
              <a:t>근무</a:t>
            </a:r>
            <a:r>
              <a:rPr dirty="0"/>
              <a:t> </a:t>
            </a:r>
            <a:r>
              <a:rPr dirty="0" err="1"/>
              <a:t>현장을</a:t>
            </a:r>
            <a:r>
              <a:rPr dirty="0"/>
              <a:t> </a:t>
            </a:r>
            <a:r>
              <a:rPr dirty="0" err="1"/>
              <a:t>검색하여</a:t>
            </a:r>
            <a:r>
              <a:rPr dirty="0"/>
              <a:t>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신청을</a:t>
            </a:r>
            <a:r>
              <a:rPr dirty="0"/>
              <a:t> </a:t>
            </a:r>
            <a:r>
              <a:rPr dirty="0" err="1"/>
              <a:t>넣음</a:t>
            </a:r>
            <a:br>
              <a:rPr dirty="0"/>
            </a:br>
            <a:r>
              <a:rPr dirty="0"/>
              <a:t>-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현장의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(</a:t>
            </a:r>
            <a:r>
              <a:rPr dirty="0" err="1"/>
              <a:t>소장</a:t>
            </a:r>
            <a:r>
              <a:rPr dirty="0"/>
              <a:t>)가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누르기</a:t>
            </a:r>
            <a:r>
              <a:rPr dirty="0"/>
              <a:t> </a:t>
            </a:r>
            <a:r>
              <a:rPr dirty="0" err="1"/>
              <a:t>전까지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프로세스</a:t>
            </a:r>
            <a:br>
              <a:rPr dirty="0"/>
            </a:br>
            <a:r>
              <a:rPr dirty="0"/>
              <a:t>1.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실명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2. </a:t>
            </a:r>
            <a:r>
              <a:rPr dirty="0" err="1"/>
              <a:t>근무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명칭이나</a:t>
            </a:r>
            <a:r>
              <a:rPr dirty="0"/>
              <a:t> </a:t>
            </a:r>
            <a:r>
              <a:rPr dirty="0" err="1"/>
              <a:t>건설사로</a:t>
            </a:r>
            <a:r>
              <a:rPr dirty="0"/>
              <a:t> </a:t>
            </a:r>
            <a:r>
              <a:rPr dirty="0" err="1"/>
              <a:t>활성화된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조회</a:t>
            </a:r>
            <a:br>
              <a:rPr dirty="0"/>
            </a:br>
            <a:r>
              <a:rPr dirty="0"/>
              <a:t>3.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요청</a:t>
            </a:r>
            <a:br>
              <a:rPr dirty="0"/>
            </a:br>
            <a:r>
              <a:rPr dirty="0"/>
              <a:t>4. </a:t>
            </a:r>
            <a:r>
              <a:rPr dirty="0" err="1"/>
              <a:t>소장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br>
              <a:rPr dirty="0"/>
            </a:br>
            <a:r>
              <a:rPr dirty="0"/>
              <a:t>■ UI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요점</a:t>
            </a:r>
            <a:br>
              <a:rPr dirty="0"/>
            </a:br>
            <a:r>
              <a:rPr dirty="0"/>
              <a:t>-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중에는</a:t>
            </a:r>
            <a:r>
              <a:rPr dirty="0"/>
              <a:t> </a:t>
            </a:r>
            <a:r>
              <a:rPr dirty="0" err="1"/>
              <a:t>로딩</a:t>
            </a:r>
            <a:r>
              <a:rPr dirty="0"/>
              <a:t>/</a:t>
            </a:r>
            <a:r>
              <a:rPr dirty="0" err="1"/>
              <a:t>대기</a:t>
            </a:r>
            <a:r>
              <a:rPr dirty="0"/>
              <a:t> 중 </a:t>
            </a:r>
            <a:r>
              <a:rPr dirty="0" err="1"/>
              <a:t>위젯을</a:t>
            </a:r>
            <a:r>
              <a:rPr dirty="0"/>
              <a:t> </a:t>
            </a:r>
            <a:r>
              <a:rPr dirty="0" err="1"/>
              <a:t>중앙에</a:t>
            </a:r>
            <a:r>
              <a:rPr dirty="0"/>
              <a:t> </a:t>
            </a:r>
            <a:r>
              <a:rPr dirty="0" err="1"/>
              <a:t>강조</a:t>
            </a:r>
            <a:r>
              <a:rPr dirty="0"/>
              <a:t> </a:t>
            </a:r>
            <a:r>
              <a:rPr dirty="0" err="1"/>
              <a:t>표기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직원 가입 - 현장 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현장 담당자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직원 실명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24028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31343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홍길동 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7889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소속 공사현장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06324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3136391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송도 현대 아파트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520440"/>
            <a:ext cx="2468880" cy="640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3611880"/>
            <a:ext cx="22860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송도 현대 아파트 신축공사 현장</a:t>
            </a:r>
            <a:br/>
            <a:r>
              <a:t>(소장: 김소장  |  대우건설)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현장 매핑 신청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직원 가입 - 승인 대기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현장 승인 대기 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423160"/>
            <a:ext cx="731520" cy="7315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3337560"/>
            <a:ext cx="237744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현장 소장님의 승인을 대기 중입니다.</a:t>
            </a:r>
            <a:br/>
            <a:br/>
            <a:r>
              <a:t>승인이 완료되면 자동으로 대시보드로 진입합니다.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470916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0" y="4846320"/>
            <a:ext cx="219456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신청 현장: 송도 현대 아파트</a:t>
            </a:r>
            <a:br/>
            <a:r>
              <a:t>• 소장 연락처: 010-9999-8888</a:t>
            </a:r>
            <a:br/>
            <a:r>
              <a:t>  (빠른 승인은 소장님께 유선 통화 요청)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07. 하차지 이용자 (지주) 회원가입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4315609" cy="41562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이용자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요구사항</a:t>
            </a:r>
            <a:br>
              <a:rPr dirty="0"/>
            </a:br>
            <a:r>
              <a:rPr dirty="0"/>
              <a:t>- </a:t>
            </a:r>
            <a:r>
              <a:rPr dirty="0" err="1"/>
              <a:t>토사를</a:t>
            </a:r>
            <a:r>
              <a:rPr dirty="0"/>
              <a:t> </a:t>
            </a:r>
            <a:r>
              <a:rPr dirty="0" err="1"/>
              <a:t>매립</a:t>
            </a:r>
            <a:r>
              <a:rPr dirty="0"/>
              <a:t> </a:t>
            </a:r>
            <a:r>
              <a:rPr dirty="0" err="1"/>
              <a:t>수용하는</a:t>
            </a:r>
            <a:r>
              <a:rPr dirty="0"/>
              <a:t> </a:t>
            </a:r>
            <a:r>
              <a:rPr dirty="0" err="1"/>
              <a:t>사토장의</a:t>
            </a:r>
            <a:r>
              <a:rPr dirty="0"/>
              <a:t> </a:t>
            </a:r>
            <a:r>
              <a:rPr dirty="0" err="1"/>
              <a:t>지주</a:t>
            </a:r>
            <a:r>
              <a:rPr dirty="0"/>
              <a:t>/</a:t>
            </a:r>
            <a:r>
              <a:rPr dirty="0" err="1"/>
              <a:t>운영자</a:t>
            </a:r>
            <a:r>
              <a:rPr dirty="0"/>
              <a:t> </a:t>
            </a:r>
            <a:r>
              <a:rPr dirty="0" err="1"/>
              <a:t>역할</a:t>
            </a:r>
            <a:br>
              <a:rPr dirty="0"/>
            </a:br>
            <a:r>
              <a:rPr dirty="0"/>
              <a:t>- </a:t>
            </a:r>
            <a:r>
              <a:rPr dirty="0" err="1"/>
              <a:t>매립</a:t>
            </a:r>
            <a:r>
              <a:rPr dirty="0"/>
              <a:t> </a:t>
            </a:r>
            <a:r>
              <a:rPr dirty="0" err="1"/>
              <a:t>수용이</a:t>
            </a:r>
            <a:r>
              <a:rPr dirty="0"/>
              <a:t> </a:t>
            </a:r>
            <a:r>
              <a:rPr dirty="0" err="1"/>
              <a:t>법적으로</a:t>
            </a:r>
            <a:r>
              <a:rPr dirty="0"/>
              <a:t> </a:t>
            </a:r>
            <a:r>
              <a:rPr dirty="0" err="1"/>
              <a:t>인가된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및 </a:t>
            </a:r>
            <a:r>
              <a:rPr dirty="0" err="1"/>
              <a:t>허가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 및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명세</a:t>
            </a:r>
            <a:br>
              <a:rPr dirty="0"/>
            </a:br>
            <a:r>
              <a:rPr dirty="0"/>
              <a:t>1. </a:t>
            </a:r>
            <a:r>
              <a:rPr dirty="0" err="1"/>
              <a:t>사토장</a:t>
            </a:r>
            <a:r>
              <a:rPr dirty="0"/>
              <a:t>(</a:t>
            </a:r>
            <a:r>
              <a:rPr dirty="0" err="1"/>
              <a:t>하차지</a:t>
            </a:r>
            <a:r>
              <a:rPr dirty="0"/>
              <a:t>) </a:t>
            </a:r>
            <a:r>
              <a:rPr dirty="0" err="1"/>
              <a:t>명칭</a:t>
            </a:r>
            <a:br>
              <a:rPr dirty="0"/>
            </a:br>
            <a:r>
              <a:rPr dirty="0"/>
              <a:t>2.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토양</a:t>
            </a:r>
            <a:r>
              <a:rPr dirty="0"/>
              <a:t> </a:t>
            </a:r>
            <a:r>
              <a:rPr dirty="0" err="1"/>
              <a:t>지번</a:t>
            </a:r>
            <a:r>
              <a:rPr dirty="0"/>
              <a:t> 및 </a:t>
            </a:r>
            <a:r>
              <a:rPr dirty="0" err="1"/>
              <a:t>지목</a:t>
            </a:r>
            <a:r>
              <a:rPr dirty="0"/>
              <a:t> </a:t>
            </a:r>
            <a:r>
              <a:rPr dirty="0" err="1"/>
              <a:t>주소</a:t>
            </a:r>
            <a:br>
              <a:rPr dirty="0"/>
            </a:br>
            <a:r>
              <a:rPr dirty="0"/>
              <a:t>3. </a:t>
            </a:r>
            <a:r>
              <a:rPr dirty="0" err="1"/>
              <a:t>매립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총 </a:t>
            </a:r>
            <a:r>
              <a:rPr dirty="0" err="1"/>
              <a:t>수용량</a:t>
            </a:r>
            <a:r>
              <a:rPr dirty="0"/>
              <a:t> (</a:t>
            </a:r>
            <a:r>
              <a:rPr dirty="0" err="1"/>
              <a:t>루베</a:t>
            </a:r>
            <a:r>
              <a:rPr dirty="0"/>
              <a:t> / 톤)</a:t>
            </a:r>
            <a:br>
              <a:rPr dirty="0"/>
            </a:br>
            <a:r>
              <a:rPr dirty="0"/>
              <a:t>4.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개발행위</a:t>
            </a:r>
            <a:r>
              <a:rPr dirty="0"/>
              <a:t> </a:t>
            </a:r>
            <a:r>
              <a:rPr dirty="0" err="1"/>
              <a:t>허가증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신고</a:t>
            </a:r>
            <a:r>
              <a:rPr dirty="0"/>
              <a:t> </a:t>
            </a:r>
            <a:r>
              <a:rPr dirty="0" err="1"/>
              <a:t>허가서</a:t>
            </a:r>
            <a:r>
              <a:rPr dirty="0"/>
              <a:t> </a:t>
            </a:r>
            <a:r>
              <a:rPr dirty="0" err="1"/>
              <a:t>사본</a:t>
            </a:r>
            <a:br>
              <a:rPr dirty="0"/>
            </a:br>
            <a:r>
              <a:rPr dirty="0"/>
              <a:t>   - </a:t>
            </a:r>
            <a:r>
              <a:rPr dirty="0" err="1"/>
              <a:t>하차비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계좌</a:t>
            </a:r>
            <a:r>
              <a:rPr dirty="0"/>
              <a:t> </a:t>
            </a:r>
            <a:r>
              <a:rPr dirty="0" err="1"/>
              <a:t>통장</a:t>
            </a:r>
            <a:r>
              <a:rPr dirty="0"/>
              <a:t> </a:t>
            </a:r>
            <a:r>
              <a:rPr dirty="0" err="1"/>
              <a:t>사본</a:t>
            </a:r>
            <a:br>
              <a:rPr dirty="0"/>
            </a:br>
            <a:br>
              <a:rPr dirty="0"/>
            </a:br>
            <a:r>
              <a:rPr dirty="0"/>
              <a:t>■ UI/UX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요점</a:t>
            </a:r>
            <a:br>
              <a:rPr dirty="0"/>
            </a:br>
            <a:r>
              <a:rPr dirty="0"/>
              <a:t>-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입력을</a:t>
            </a:r>
            <a:r>
              <a:rPr dirty="0"/>
              <a:t> </a:t>
            </a:r>
            <a:r>
              <a:rPr dirty="0" err="1"/>
              <a:t>편리하게</a:t>
            </a:r>
            <a:r>
              <a:rPr dirty="0"/>
              <a:t> </a:t>
            </a:r>
            <a:r>
              <a:rPr dirty="0" err="1"/>
              <a:t>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지번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우편번호</a:t>
            </a:r>
            <a:r>
              <a:rPr dirty="0"/>
              <a:t> API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 </a:t>
            </a:r>
            <a:r>
              <a:rPr dirty="0" err="1"/>
              <a:t>배치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0352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496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지주 가입 - 사토장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사토장 정보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사토장(하차지) 명칭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24028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31343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영종도 남단 사토장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7889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사토장 소재지 주소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06324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3136391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인천 중구 영종동 산 12-34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61188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최대 매립 수용량 (톤)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886200"/>
            <a:ext cx="24688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395935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50,000 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다음 단계로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457200"/>
            <a:ext cx="2926080" cy="5943600"/>
          </a:xfrm>
          <a:prstGeom prst="roundRect">
            <a:avLst/>
          </a:prstGeom>
          <a:solidFill>
            <a:srgbClr val="F9F8F6"/>
          </a:solidFill>
          <a:ln w="317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0" y="731520"/>
            <a:ext cx="27432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786384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지주 가입 - 서류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41732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사토 허가 서류 제출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7373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매립 및 정산 검증을 위한 필수 증빙을 첨부해 주세요.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24028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21240" y="260604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35540" y="251460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개발행위(사토장) 허가증 사본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61188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21240" y="397764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35540" y="388620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42062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정산 통장 사본 (사토장 운영인 명의)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5440680"/>
            <a:ext cx="24688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23960" y="55321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제출 및 가입 신청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D87CD238-2367-CC83-83C8-B061D05F8F90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9A1C534-A4E4-9512-8809-34E4263FF19D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35CA2-A191-25A4-027F-2D7598F14A6A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차주</a:t>
            </a:r>
            <a:endParaRPr sz="8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차주 홈 화면 (대시보드)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76856" cy="3048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차주가</a:t>
            </a:r>
            <a:r>
              <a:rPr dirty="0"/>
              <a:t> </a:t>
            </a:r>
            <a:r>
              <a:rPr dirty="0" err="1"/>
              <a:t>고용하여</a:t>
            </a:r>
            <a:r>
              <a:rPr dirty="0"/>
              <a:t> </a:t>
            </a:r>
            <a:r>
              <a:rPr dirty="0" err="1"/>
              <a:t>소속된</a:t>
            </a:r>
            <a:r>
              <a:rPr dirty="0"/>
              <a:t> </a:t>
            </a:r>
            <a:r>
              <a:rPr dirty="0" err="1"/>
              <a:t>기사들의</a:t>
            </a:r>
            <a:r>
              <a:rPr dirty="0"/>
              <a:t> </a:t>
            </a:r>
            <a:r>
              <a:rPr dirty="0" err="1"/>
              <a:t>당일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관제</a:t>
            </a:r>
            <a:r>
              <a:rPr dirty="0"/>
              <a:t> 및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덤프트럭</a:t>
            </a:r>
            <a:r>
              <a:rPr dirty="0"/>
              <a:t> </a:t>
            </a:r>
            <a:r>
              <a:rPr dirty="0" err="1"/>
              <a:t>관리</a:t>
            </a:r>
            <a:br>
              <a:rPr dirty="0"/>
            </a:br>
            <a:r>
              <a:rPr dirty="0"/>
              <a:t>- </a:t>
            </a:r>
            <a:r>
              <a:rPr dirty="0" err="1"/>
              <a:t>기사별</a:t>
            </a:r>
            <a:r>
              <a:rPr dirty="0"/>
              <a:t>/</a:t>
            </a:r>
            <a:r>
              <a:rPr dirty="0" err="1"/>
              <a:t>차량별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현황을</a:t>
            </a:r>
            <a:r>
              <a:rPr dirty="0"/>
              <a:t> </a:t>
            </a:r>
            <a:r>
              <a:rPr dirty="0" err="1"/>
              <a:t>그리드로</a:t>
            </a:r>
            <a:r>
              <a:rPr dirty="0"/>
              <a:t> </a:t>
            </a:r>
            <a:r>
              <a:rPr dirty="0" err="1"/>
              <a:t>모니터링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종합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5명 (4명 </a:t>
            </a:r>
            <a:r>
              <a:rPr dirty="0" err="1"/>
              <a:t>주행</a:t>
            </a:r>
            <a:r>
              <a:rPr dirty="0"/>
              <a:t> 중 / 1명 </a:t>
            </a:r>
            <a:r>
              <a:rPr dirty="0" err="1"/>
              <a:t>휴무</a:t>
            </a:r>
            <a:r>
              <a:rPr dirty="0"/>
              <a:t>)</a:t>
            </a:r>
            <a:br>
              <a:rPr dirty="0"/>
            </a:br>
            <a:r>
              <a:rPr dirty="0"/>
              <a:t>   -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4대 (3대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)</a:t>
            </a:r>
            <a:br>
              <a:rPr dirty="0"/>
            </a:br>
            <a:r>
              <a:rPr dirty="0"/>
              <a:t>   -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: 1,800,000원</a:t>
            </a:r>
            <a:br>
              <a:rPr dirty="0"/>
            </a:br>
            <a:r>
              <a:rPr dirty="0"/>
              <a:t>2. </a:t>
            </a:r>
            <a:r>
              <a:rPr dirty="0" err="1"/>
              <a:t>기사-차량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리스트</a:t>
            </a:r>
            <a:r>
              <a:rPr dirty="0"/>
              <a:t>:</a:t>
            </a:r>
            <a:br>
              <a:rPr dirty="0"/>
            </a:br>
            <a:r>
              <a:rPr dirty="0"/>
              <a:t>   - 각 </a:t>
            </a:r>
            <a:r>
              <a:rPr dirty="0" err="1"/>
              <a:t>덤프트럭</a:t>
            </a:r>
            <a:r>
              <a:rPr dirty="0"/>
              <a:t> </a:t>
            </a:r>
            <a:r>
              <a:rPr dirty="0" err="1"/>
              <a:t>번호판별로</a:t>
            </a:r>
            <a:r>
              <a:rPr dirty="0"/>
              <a:t> </a:t>
            </a:r>
            <a:r>
              <a:rPr dirty="0" err="1"/>
              <a:t>매핑된</a:t>
            </a:r>
            <a:r>
              <a:rPr dirty="0"/>
              <a:t> </a:t>
            </a:r>
            <a:r>
              <a:rPr dirty="0" err="1"/>
              <a:t>기사명</a:t>
            </a:r>
            <a:r>
              <a:rPr dirty="0"/>
              <a:t> 및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/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노출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차주 대시보드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5087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금일 보유 차량 및 운송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828800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소속 기사: 총 5명 (4명 운행 중  |  1명 대기)</a:t>
            </a:r>
            <a:br/>
            <a:r>
              <a:t>• 보유 차량: 총 4대 (3대 배정 완료  |  1대 대기중)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423160"/>
            <a:ext cx="32918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algun Gothic"/>
              </a:defRPr>
            </a:pPr>
            <a:r>
              <a:t>정산 대기 금액: 1,800,000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0175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실시간 차량/기사 운행 관제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9184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38328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경기 80사 1234 (25톤)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63931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D97706"/>
                </a:solidFill>
                <a:latin typeface="Malgun Gothic"/>
              </a:defRPr>
            </a:pPr>
            <a:r>
              <a:t>김덤프 기사  |  미터기 주행 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02336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411480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서울 80사 5678 (25톤)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37083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이배차 기사  |  상차지 이동 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75488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484632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인천 80사 9012 (15톤)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10235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박기사 기사  |  운행 종료 (휴무)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02. 소속 운전기사 관리 및 초대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3252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밑으로</a:t>
            </a:r>
            <a:r>
              <a:rPr dirty="0"/>
              <a:t> </a:t>
            </a:r>
            <a:r>
              <a:rPr dirty="0" err="1"/>
              <a:t>기사를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등록하기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발송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번호를</a:t>
            </a:r>
            <a:r>
              <a:rPr dirty="0"/>
              <a:t> </a:t>
            </a:r>
            <a:r>
              <a:rPr dirty="0" err="1"/>
              <a:t>선등록하여</a:t>
            </a:r>
            <a:r>
              <a:rPr dirty="0"/>
              <a:t> </a:t>
            </a:r>
            <a:r>
              <a:rPr dirty="0" err="1"/>
              <a:t>초대하면</a:t>
            </a:r>
            <a:r>
              <a:rPr dirty="0"/>
              <a:t>,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시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소속으로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배핑</a:t>
            </a:r>
            <a:br>
              <a:rPr dirty="0"/>
            </a:br>
            <a:r>
              <a:rPr dirty="0"/>
              <a:t>- 각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카드에서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배정된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번호판을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지정하는</a:t>
            </a:r>
            <a:r>
              <a:rPr dirty="0"/>
              <a:t> </a:t>
            </a:r>
            <a:r>
              <a:rPr dirty="0" err="1"/>
              <a:t>드롭다운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상자</a:t>
            </a:r>
            <a:r>
              <a:rPr dirty="0"/>
              <a:t>: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기입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 및 [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발송</a:t>
            </a:r>
            <a:r>
              <a:rPr dirty="0"/>
              <a:t>] </a:t>
            </a:r>
            <a:r>
              <a:rPr dirty="0" err="1"/>
              <a:t>버튼</a:t>
            </a:r>
            <a:br>
              <a:rPr dirty="0"/>
            </a:br>
            <a:r>
              <a:rPr dirty="0"/>
              <a:t>2.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리스트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실명</a:t>
            </a:r>
            <a:r>
              <a:rPr dirty="0"/>
              <a:t> 및 </a:t>
            </a:r>
            <a:r>
              <a:rPr dirty="0" err="1"/>
              <a:t>면허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   -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</a:t>
            </a:r>
            <a:r>
              <a:rPr dirty="0" err="1"/>
              <a:t>드롭다운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(예: '</a:t>
            </a:r>
            <a:r>
              <a:rPr dirty="0" err="1"/>
              <a:t>경기</a:t>
            </a:r>
            <a:r>
              <a:rPr dirty="0"/>
              <a:t> 80사 1234 ▼')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소속 기사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신규 운전기사 초대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69480" y="1874520"/>
            <a:ext cx="3291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938528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기사 휴대폰 번호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331720"/>
            <a:ext cx="32918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39572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초대 링크 발송 (SMS)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175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소속 기사 목록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2918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338328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김덤프 기사 (승인완료 🟢)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730752"/>
            <a:ext cx="3291840" cy="3657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3776472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차량 배정: 경기 80사 1234  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2976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438912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이배차 기사 (승인완료 🟢)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736592"/>
            <a:ext cx="3291840" cy="3657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4782312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배정: 미배정  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03. 보유 차량 등록 및 서류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875020" cy="24942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차주가</a:t>
            </a:r>
            <a:r>
              <a:rPr dirty="0"/>
              <a:t> </a:t>
            </a:r>
            <a:r>
              <a:rPr dirty="0" err="1"/>
              <a:t>보유한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덤프트럭</a:t>
            </a:r>
            <a:r>
              <a:rPr dirty="0"/>
              <a:t> </a:t>
            </a:r>
            <a:r>
              <a:rPr dirty="0" err="1"/>
              <a:t>번호판</a:t>
            </a:r>
            <a:r>
              <a:rPr dirty="0"/>
              <a:t> 및 </a:t>
            </a:r>
            <a:r>
              <a:rPr dirty="0" err="1"/>
              <a:t>규격을</a:t>
            </a:r>
            <a:r>
              <a:rPr dirty="0"/>
              <a:t> </a:t>
            </a:r>
            <a:r>
              <a:rPr dirty="0" err="1"/>
              <a:t>시스템에</a:t>
            </a:r>
            <a:r>
              <a:rPr dirty="0"/>
              <a:t> </a:t>
            </a:r>
            <a:r>
              <a:rPr dirty="0" err="1"/>
              <a:t>등록하는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심사를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(</a:t>
            </a:r>
            <a:r>
              <a:rPr dirty="0" err="1"/>
              <a:t>자동차등록증</a:t>
            </a:r>
            <a:r>
              <a:rPr dirty="0"/>
              <a:t>)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필수</a:t>
            </a:r>
            <a:br>
              <a:rPr dirty="0"/>
            </a:br>
            <a:r>
              <a:rPr dirty="0"/>
              <a:t>-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신청</a:t>
            </a:r>
            <a:r>
              <a:rPr dirty="0"/>
              <a:t> 후 </a:t>
            </a:r>
            <a:r>
              <a:rPr dirty="0" err="1"/>
              <a:t>관리자가</a:t>
            </a:r>
            <a:r>
              <a:rPr dirty="0"/>
              <a:t> </a:t>
            </a:r>
            <a:r>
              <a:rPr dirty="0" err="1"/>
              <a:t>번호판과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진위</a:t>
            </a:r>
            <a:r>
              <a:rPr dirty="0"/>
              <a:t> </a:t>
            </a:r>
            <a:r>
              <a:rPr dirty="0" err="1"/>
              <a:t>검사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시 </a:t>
            </a:r>
            <a:r>
              <a:rPr dirty="0" err="1"/>
              <a:t>정식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승인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입력</a:t>
            </a:r>
            <a:r>
              <a:rPr dirty="0"/>
              <a:t> 폼: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번호판</a:t>
            </a:r>
            <a:r>
              <a:rPr dirty="0"/>
              <a:t> </a:t>
            </a:r>
            <a:r>
              <a:rPr dirty="0" err="1"/>
              <a:t>기입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, </a:t>
            </a:r>
            <a:r>
              <a:rPr dirty="0" err="1"/>
              <a:t>덤프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 </a:t>
            </a:r>
            <a:r>
              <a:rPr dirty="0" err="1"/>
              <a:t>단추</a:t>
            </a:r>
            <a:br>
              <a:rPr dirty="0"/>
            </a:br>
            <a:r>
              <a:rPr dirty="0"/>
              <a:t>2.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첨부</a:t>
            </a:r>
            <a:r>
              <a:rPr dirty="0"/>
              <a:t>: </a:t>
            </a:r>
            <a:r>
              <a:rPr dirty="0" err="1"/>
              <a:t>자동차등록증</a:t>
            </a:r>
            <a:r>
              <a:rPr dirty="0"/>
              <a:t> </a:t>
            </a:r>
            <a:r>
              <a:rPr dirty="0" err="1"/>
              <a:t>사본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썸네일</a:t>
            </a:r>
            <a:r>
              <a:rPr dirty="0"/>
              <a:t> </a:t>
            </a:r>
            <a:r>
              <a:rPr dirty="0" err="1"/>
              <a:t>박스</a:t>
            </a:r>
            <a:br>
              <a:rPr dirty="0"/>
            </a:br>
            <a:r>
              <a:rPr dirty="0"/>
              <a:t>3. [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신청</a:t>
            </a:r>
            <a:r>
              <a:rPr dirty="0"/>
              <a:t>]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옐로우</a:t>
            </a:r>
            <a:r>
              <a:rPr dirty="0"/>
              <a:t> </a:t>
            </a:r>
            <a:r>
              <a:rPr dirty="0" err="1"/>
              <a:t>버튼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보유 차량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차량 등록 번호판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34747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76479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서울 80사 7777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945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덤프 규격 (톤수)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468880"/>
            <a:ext cx="10972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54203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15톤 덤프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468880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54203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25톤 덤프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0175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필수 차량 서류 보관함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291840"/>
            <a:ext cx="356616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78240" y="379476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92540" y="370332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4023360"/>
            <a:ext cx="3566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자동차등록증 사본 첨부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신규 차량 등록 신청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04. 정산 및 기사별 매출 기여도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89320" cy="3048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기사들이</a:t>
            </a:r>
            <a:r>
              <a:rPr dirty="0"/>
              <a:t> </a:t>
            </a:r>
            <a:r>
              <a:rPr dirty="0" err="1"/>
              <a:t>운행을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발생시킨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실적을</a:t>
            </a:r>
            <a:r>
              <a:rPr dirty="0"/>
              <a:t> </a:t>
            </a:r>
            <a:r>
              <a:rPr dirty="0" err="1"/>
              <a:t>월별</a:t>
            </a:r>
            <a:r>
              <a:rPr dirty="0"/>
              <a:t> </a:t>
            </a:r>
            <a:r>
              <a:rPr dirty="0" err="1"/>
              <a:t>합산</a:t>
            </a:r>
            <a:r>
              <a:rPr dirty="0"/>
              <a:t> </a:t>
            </a:r>
            <a:r>
              <a:rPr dirty="0" err="1"/>
              <a:t>모니터링</a:t>
            </a:r>
            <a:br>
              <a:rPr dirty="0"/>
            </a:br>
            <a:r>
              <a:rPr dirty="0"/>
              <a:t>-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공제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및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예정액</a:t>
            </a:r>
            <a:r>
              <a:rPr dirty="0"/>
              <a:t> </a:t>
            </a:r>
            <a:r>
              <a:rPr dirty="0" err="1"/>
              <a:t>산식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- </a:t>
            </a:r>
            <a:r>
              <a:rPr dirty="0" err="1"/>
              <a:t>기사별</a:t>
            </a:r>
            <a:r>
              <a:rPr dirty="0"/>
              <a:t> </a:t>
            </a:r>
            <a:r>
              <a:rPr dirty="0" err="1"/>
              <a:t>기여도</a:t>
            </a:r>
            <a:r>
              <a:rPr dirty="0"/>
              <a:t> </a:t>
            </a:r>
            <a:r>
              <a:rPr dirty="0" err="1"/>
              <a:t>순위를</a:t>
            </a:r>
            <a:r>
              <a:rPr dirty="0"/>
              <a:t> </a:t>
            </a:r>
            <a:r>
              <a:rPr dirty="0" err="1"/>
              <a:t>목록으로</a:t>
            </a:r>
            <a:r>
              <a:rPr dirty="0"/>
              <a:t> </a:t>
            </a:r>
            <a:r>
              <a:rPr dirty="0" err="1"/>
              <a:t>보여주어</a:t>
            </a:r>
            <a:r>
              <a:rPr dirty="0"/>
              <a:t> </a:t>
            </a:r>
            <a:r>
              <a:rPr dirty="0" err="1"/>
              <a:t>차주의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증대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이번</a:t>
            </a:r>
            <a:r>
              <a:rPr dirty="0"/>
              <a:t> 달 </a:t>
            </a:r>
            <a:r>
              <a:rPr dirty="0" err="1"/>
              <a:t>종합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:</a:t>
            </a:r>
            <a:br>
              <a:rPr dirty="0"/>
            </a:br>
            <a:r>
              <a:rPr dirty="0"/>
              <a:t>   - 총 </a:t>
            </a:r>
            <a:r>
              <a:rPr dirty="0" err="1"/>
              <a:t>발생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 4,920,000원,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수수료</a:t>
            </a:r>
            <a:r>
              <a:rPr dirty="0"/>
              <a:t> -492,000원,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실수령</a:t>
            </a:r>
            <a:r>
              <a:rPr dirty="0"/>
              <a:t> 4,428,000원</a:t>
            </a:r>
            <a:br>
              <a:rPr dirty="0"/>
            </a:br>
            <a:r>
              <a:rPr dirty="0"/>
              <a:t>2. </a:t>
            </a:r>
            <a:r>
              <a:rPr dirty="0" err="1"/>
              <a:t>기사별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기여도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실명</a:t>
            </a:r>
            <a:r>
              <a:rPr dirty="0"/>
              <a:t>,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, </a:t>
            </a:r>
            <a:r>
              <a:rPr dirty="0" err="1"/>
              <a:t>당월</a:t>
            </a:r>
            <a:r>
              <a:rPr dirty="0"/>
              <a:t> 총 </a:t>
            </a:r>
            <a:r>
              <a:rPr dirty="0" err="1"/>
              <a:t>운임</a:t>
            </a:r>
            <a:r>
              <a:rPr dirty="0"/>
              <a:t> 및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횟수</a:t>
            </a:r>
            <a:r>
              <a:rPr dirty="0"/>
              <a:t> </a:t>
            </a:r>
            <a:r>
              <a:rPr dirty="0" err="1"/>
              <a:t>집계</a:t>
            </a:r>
            <a:r>
              <a:rPr dirty="0"/>
              <a:t> </a:t>
            </a:r>
            <a:r>
              <a:rPr dirty="0" err="1"/>
              <a:t>리스트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정산 및 운송 실적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5087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6월 청구/정산 예정 내역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810512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소속 총 발생 매출:  4,920,000 원</a:t>
            </a:r>
            <a:br/>
            <a:r>
              <a:t>• 플랫폼 수수료 (10%):  -492,000 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514600"/>
            <a:ext cx="32918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최종 차주 실수령액: 4,428,000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1089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기사별 매출 기여도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3832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47472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1. 김덤프 기사 (25톤)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4904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총 운임: 3,600,000 원  |  운행 횟수: 24회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16052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425196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2. 이배차 기사 (15톤)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52628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총 운임: 1,320,000 원  |  운행 횟수: 12회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운송장 명세 Excel 전송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05. 차주 마스터 서류 보관함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37860" cy="24942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및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계좌</a:t>
            </a:r>
            <a:r>
              <a:rPr dirty="0"/>
              <a:t> </a:t>
            </a:r>
            <a:r>
              <a:rPr dirty="0" err="1"/>
              <a:t>연동을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행정</a:t>
            </a:r>
            <a:r>
              <a:rPr dirty="0"/>
              <a:t> </a:t>
            </a:r>
            <a:r>
              <a:rPr dirty="0" err="1"/>
              <a:t>서류를</a:t>
            </a:r>
            <a:r>
              <a:rPr dirty="0"/>
              <a:t> </a:t>
            </a:r>
            <a:r>
              <a:rPr dirty="0" err="1"/>
              <a:t>업로드하고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검토하는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각 </a:t>
            </a:r>
            <a:r>
              <a:rPr dirty="0" err="1"/>
              <a:t>행정</a:t>
            </a:r>
            <a:r>
              <a:rPr dirty="0"/>
              <a:t> </a:t>
            </a:r>
            <a:r>
              <a:rPr dirty="0" err="1"/>
              <a:t>서류의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(</a:t>
            </a:r>
            <a:r>
              <a:rPr dirty="0" err="1"/>
              <a:t>승인완료</a:t>
            </a:r>
            <a:r>
              <a:rPr dirty="0"/>
              <a:t>/</a:t>
            </a:r>
            <a:r>
              <a:rPr dirty="0" err="1"/>
              <a:t>심사중</a:t>
            </a:r>
            <a:r>
              <a:rPr dirty="0"/>
              <a:t>/</a:t>
            </a:r>
            <a:r>
              <a:rPr dirty="0" err="1"/>
              <a:t>반려</a:t>
            </a:r>
            <a:r>
              <a:rPr dirty="0"/>
              <a:t>)를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피드백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사업자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: </a:t>
            </a:r>
            <a:r>
              <a:rPr dirty="0" err="1"/>
              <a:t>사업자등록증</a:t>
            </a:r>
            <a:r>
              <a:rPr dirty="0"/>
              <a:t> </a:t>
            </a:r>
            <a:r>
              <a:rPr dirty="0" err="1"/>
              <a:t>사본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및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뱃지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2.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통장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: </a:t>
            </a:r>
            <a:r>
              <a:rPr dirty="0" err="1"/>
              <a:t>차주</a:t>
            </a:r>
            <a:r>
              <a:rPr dirty="0"/>
              <a:t> </a:t>
            </a:r>
            <a:r>
              <a:rPr dirty="0" err="1"/>
              <a:t>본인</a:t>
            </a:r>
            <a:r>
              <a:rPr dirty="0"/>
              <a:t>/</a:t>
            </a:r>
            <a:r>
              <a:rPr dirty="0" err="1"/>
              <a:t>회사</a:t>
            </a:r>
            <a:r>
              <a:rPr dirty="0"/>
              <a:t> </a:t>
            </a:r>
            <a:r>
              <a:rPr dirty="0" err="1"/>
              <a:t>통장</a:t>
            </a:r>
            <a:r>
              <a:rPr dirty="0"/>
              <a:t> </a:t>
            </a:r>
            <a:r>
              <a:rPr dirty="0" err="1"/>
              <a:t>사본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및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3. [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] </a:t>
            </a:r>
            <a:r>
              <a:rPr dirty="0" err="1"/>
              <a:t>변경분</a:t>
            </a:r>
            <a:r>
              <a:rPr dirty="0"/>
              <a:t> </a:t>
            </a:r>
            <a:r>
              <a:rPr dirty="0" err="1"/>
              <a:t>갱신</a:t>
            </a:r>
            <a:r>
              <a:rPr dirty="0"/>
              <a:t> 및 </a:t>
            </a:r>
            <a:r>
              <a:rPr dirty="0" err="1"/>
              <a:t>재심사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버튼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차주 서류 보관함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차주 필수 서류 업로드 및 심사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20240"/>
            <a:ext cx="3566160" cy="1188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233172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92540" y="224028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2560320"/>
            <a:ext cx="3566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사업자등록증 사본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011680"/>
            <a:ext cx="10972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048256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승인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291840"/>
            <a:ext cx="3566160" cy="1188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78240" y="370332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92540" y="361188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3931920"/>
            <a:ext cx="3566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통장 사본 (상호명 일치)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383280"/>
            <a:ext cx="109728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3419856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심사 대기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제출 서류 수정 완료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F57B16B9-E436-1CBE-75D6-86FDC9E781C9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33F3D23-744E-175E-74D0-6A69A50E33DC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52CC8-90A4-9C02-8AC3-38421A47B764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덤프 기사</a:t>
            </a:r>
            <a:endParaRPr sz="8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배차 목록 화면 (홈)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172200" cy="3048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수락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일감</a:t>
            </a:r>
            <a:r>
              <a:rPr dirty="0"/>
              <a:t> </a:t>
            </a:r>
            <a:r>
              <a:rPr dirty="0" err="1"/>
              <a:t>목록을</a:t>
            </a:r>
            <a:r>
              <a:rPr dirty="0"/>
              <a:t> </a:t>
            </a:r>
            <a:r>
              <a:rPr dirty="0" err="1"/>
              <a:t>한눈에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검색바를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현장명이나</a:t>
            </a:r>
            <a:r>
              <a:rPr dirty="0"/>
              <a:t> </a:t>
            </a:r>
            <a:r>
              <a:rPr dirty="0" err="1"/>
              <a:t>자재명으로</a:t>
            </a:r>
            <a:r>
              <a:rPr dirty="0"/>
              <a:t> </a:t>
            </a:r>
            <a:r>
              <a:rPr dirty="0" err="1"/>
              <a:t>필터링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r>
              <a:rPr dirty="0"/>
              <a:t>- </a:t>
            </a:r>
            <a:r>
              <a:rPr dirty="0" err="1"/>
              <a:t>목록에서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카드를</a:t>
            </a:r>
            <a:r>
              <a:rPr dirty="0"/>
              <a:t> </a:t>
            </a:r>
            <a:r>
              <a:rPr dirty="0" err="1"/>
              <a:t>터치하면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경로가</a:t>
            </a:r>
            <a:r>
              <a:rPr dirty="0"/>
              <a:t> </a:t>
            </a:r>
            <a:r>
              <a:rPr dirty="0" err="1"/>
              <a:t>나오는</a:t>
            </a:r>
            <a:r>
              <a:rPr dirty="0"/>
              <a:t> '</a:t>
            </a:r>
            <a:r>
              <a:rPr dirty="0" err="1"/>
              <a:t>상세조회</a:t>
            </a:r>
            <a:r>
              <a:rPr dirty="0"/>
              <a:t>(Screen 4)' </a:t>
            </a:r>
            <a:r>
              <a:rPr dirty="0" err="1"/>
              <a:t>화면으로</a:t>
            </a:r>
            <a:r>
              <a:rPr dirty="0"/>
              <a:t> </a:t>
            </a:r>
            <a:r>
              <a:rPr dirty="0" err="1"/>
              <a:t>이동</a:t>
            </a:r>
            <a:br>
              <a:rPr dirty="0"/>
            </a:br>
            <a:br>
              <a:rPr dirty="0"/>
            </a:br>
            <a:r>
              <a:rPr dirty="0"/>
              <a:t>■ UI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br>
              <a:rPr dirty="0"/>
            </a:br>
            <a:r>
              <a:rPr dirty="0"/>
              <a:t>1.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입력창</a:t>
            </a:r>
            <a:r>
              <a:rPr dirty="0"/>
              <a:t>: </a:t>
            </a:r>
            <a:r>
              <a:rPr dirty="0" err="1"/>
              <a:t>현장명</a:t>
            </a:r>
            <a:r>
              <a:rPr dirty="0"/>
              <a:t>, </a:t>
            </a:r>
            <a:r>
              <a:rPr dirty="0" err="1"/>
              <a:t>지역</a:t>
            </a:r>
            <a:r>
              <a:rPr dirty="0"/>
              <a:t>, </a:t>
            </a:r>
            <a:r>
              <a:rPr dirty="0" err="1"/>
              <a:t>자재명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및 </a:t>
            </a:r>
            <a:r>
              <a:rPr dirty="0" err="1"/>
              <a:t>돋보기</a:t>
            </a:r>
            <a:r>
              <a:rPr dirty="0"/>
              <a:t> </a:t>
            </a:r>
            <a:r>
              <a:rPr dirty="0" err="1"/>
              <a:t>아이콘</a:t>
            </a:r>
            <a:br>
              <a:rPr dirty="0"/>
            </a:br>
            <a:r>
              <a:rPr dirty="0"/>
              <a:t>2.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 탭: [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(</a:t>
            </a:r>
            <a:r>
              <a:rPr dirty="0" err="1"/>
              <a:t>선택</a:t>
            </a:r>
            <a:r>
              <a:rPr dirty="0"/>
              <a:t>)] / [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]</a:t>
            </a:r>
            <a:br>
              <a:rPr dirty="0"/>
            </a:br>
            <a:r>
              <a:rPr dirty="0"/>
              <a:t>3. </a:t>
            </a:r>
            <a:r>
              <a:rPr dirty="0" err="1"/>
              <a:t>일감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리스트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출발지</a:t>
            </a:r>
            <a:r>
              <a:rPr dirty="0"/>
              <a:t> ➔ </a:t>
            </a:r>
            <a:r>
              <a:rPr dirty="0" err="1"/>
              <a:t>목적지</a:t>
            </a:r>
            <a:r>
              <a:rPr dirty="0"/>
              <a:t>, </a:t>
            </a:r>
            <a:r>
              <a:rPr dirty="0" err="1"/>
              <a:t>자재</a:t>
            </a:r>
            <a:r>
              <a:rPr dirty="0"/>
              <a:t>(</a:t>
            </a:r>
            <a:r>
              <a:rPr dirty="0" err="1"/>
              <a:t>토사</a:t>
            </a:r>
            <a:r>
              <a:rPr dirty="0"/>
              <a:t>) </a:t>
            </a:r>
            <a:r>
              <a:rPr dirty="0" err="1"/>
              <a:t>종류</a:t>
            </a:r>
            <a:r>
              <a:rPr dirty="0"/>
              <a:t>, </a:t>
            </a:r>
            <a:r>
              <a:rPr dirty="0" err="1"/>
              <a:t>덤프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 </a:t>
            </a:r>
            <a:r>
              <a:rPr dirty="0" err="1"/>
              <a:t>규격</a:t>
            </a:r>
            <a:br>
              <a:rPr dirty="0"/>
            </a:br>
            <a:r>
              <a:rPr dirty="0"/>
              <a:t>  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 및 </a:t>
            </a:r>
            <a:r>
              <a:rPr dirty="0" err="1"/>
              <a:t>지급</a:t>
            </a:r>
            <a:r>
              <a:rPr dirty="0"/>
              <a:t> </a:t>
            </a:r>
            <a:r>
              <a:rPr dirty="0" err="1"/>
              <a:t>주체</a:t>
            </a:r>
            <a:r>
              <a:rPr dirty="0"/>
              <a:t>(</a:t>
            </a:r>
            <a:r>
              <a:rPr dirty="0" err="1"/>
              <a:t>상차지</a:t>
            </a:r>
            <a:r>
              <a:rPr dirty="0"/>
              <a:t> </a:t>
            </a:r>
            <a:r>
              <a:rPr dirty="0" err="1"/>
              <a:t>지급</a:t>
            </a:r>
            <a:r>
              <a:rPr dirty="0"/>
              <a:t> 등)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요약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배차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49047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🔍 현장명, 지역, 자재명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965960"/>
            <a:ext cx="3840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95160" y="1965960"/>
            <a:ext cx="1920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233172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203911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배차 목록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3911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완료 목록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5146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60604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송도 1공구 아파트 ➔ 영종 사토장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62072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자재: 양질토  |  규격: 25톤 덤프  |  이동: 18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9184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150,000 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31927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상차지 지급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84048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393192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인천대교 북단 현장 ➔ 송도 사토장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187952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자재: 혼합토  |  규격: 15톤 덤프  |  이동: 10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61772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110,000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64515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하차지 지급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671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(</a:t>
            </a:r>
            <a:r>
              <a:rPr dirty="0" err="1"/>
              <a:t>수락</a:t>
            </a:r>
            <a:r>
              <a:rPr dirty="0"/>
              <a:t> 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40998" cy="3048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홈 </a:t>
            </a:r>
            <a:r>
              <a:rPr dirty="0" err="1"/>
              <a:t>목록에서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시 </a:t>
            </a:r>
            <a:r>
              <a:rPr dirty="0" err="1"/>
              <a:t>노출되며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일감의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명세를</a:t>
            </a:r>
            <a:r>
              <a:rPr dirty="0"/>
              <a:t> </a:t>
            </a:r>
            <a:r>
              <a:rPr dirty="0" err="1"/>
              <a:t>검토하는</a:t>
            </a:r>
            <a:r>
              <a:rPr dirty="0"/>
              <a:t> </a:t>
            </a:r>
            <a:r>
              <a:rPr dirty="0" err="1"/>
              <a:t>단계</a:t>
            </a:r>
            <a:br>
              <a:rPr dirty="0"/>
            </a:br>
            <a:r>
              <a:rPr dirty="0"/>
              <a:t>- </a:t>
            </a:r>
            <a:r>
              <a:rPr dirty="0" err="1"/>
              <a:t>지도로</a:t>
            </a:r>
            <a:r>
              <a:rPr dirty="0"/>
              <a:t> </a:t>
            </a:r>
            <a:r>
              <a:rPr dirty="0" err="1"/>
              <a:t>상하차지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경로선과</a:t>
            </a:r>
            <a:r>
              <a:rPr dirty="0"/>
              <a:t>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거리를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검수하여</a:t>
            </a:r>
            <a:r>
              <a:rPr dirty="0"/>
              <a:t> </a:t>
            </a:r>
            <a:r>
              <a:rPr dirty="0" err="1"/>
              <a:t>일의</a:t>
            </a:r>
            <a:r>
              <a:rPr dirty="0"/>
              <a:t> </a:t>
            </a:r>
            <a:r>
              <a:rPr dirty="0" err="1"/>
              <a:t>강도</a:t>
            </a:r>
            <a:r>
              <a:rPr dirty="0"/>
              <a:t> </a:t>
            </a:r>
            <a:r>
              <a:rPr dirty="0" err="1"/>
              <a:t>판단</a:t>
            </a:r>
            <a:br>
              <a:rPr dirty="0"/>
            </a:br>
            <a:r>
              <a:rPr dirty="0"/>
              <a:t>-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시 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옐로우</a:t>
            </a:r>
            <a:r>
              <a:rPr dirty="0"/>
              <a:t> </a:t>
            </a:r>
            <a:r>
              <a:rPr dirty="0" err="1"/>
              <a:t>버튼으로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계약</a:t>
            </a:r>
            <a:r>
              <a:rPr dirty="0"/>
              <a:t> </a:t>
            </a:r>
            <a:r>
              <a:rPr dirty="0" err="1"/>
              <a:t>수락</a:t>
            </a:r>
            <a:r>
              <a:rPr dirty="0"/>
              <a:t> </a:t>
            </a:r>
            <a:r>
              <a:rPr dirty="0" err="1"/>
              <a:t>처리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및 UI</a:t>
            </a:r>
            <a:br>
              <a:rPr dirty="0"/>
            </a:br>
            <a:r>
              <a:rPr dirty="0"/>
              <a:t>1.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: </a:t>
            </a:r>
            <a:r>
              <a:rPr dirty="0" err="1"/>
              <a:t>상차지</a:t>
            </a:r>
            <a:r>
              <a:rPr dirty="0"/>
              <a:t>(</a:t>
            </a:r>
            <a:r>
              <a:rPr dirty="0" err="1"/>
              <a:t>출발</a:t>
            </a:r>
            <a:r>
              <a:rPr dirty="0"/>
              <a:t>) ➔ </a:t>
            </a:r>
            <a:r>
              <a:rPr dirty="0" err="1"/>
              <a:t>하차지</a:t>
            </a:r>
            <a:r>
              <a:rPr dirty="0"/>
              <a:t>(</a:t>
            </a:r>
            <a:r>
              <a:rPr dirty="0" err="1"/>
              <a:t>도착</a:t>
            </a:r>
            <a:r>
              <a:rPr dirty="0"/>
              <a:t>) </a:t>
            </a:r>
            <a:r>
              <a:rPr dirty="0" err="1"/>
              <a:t>라우팅</a:t>
            </a:r>
            <a:r>
              <a:rPr dirty="0"/>
              <a:t> </a:t>
            </a:r>
            <a:r>
              <a:rPr dirty="0" err="1"/>
              <a:t>라인</a:t>
            </a:r>
            <a:br>
              <a:rPr dirty="0"/>
            </a:br>
            <a:r>
              <a:rPr dirty="0"/>
              <a:t>2.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및 </a:t>
            </a:r>
            <a:r>
              <a:rPr dirty="0" err="1"/>
              <a:t>사토지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, </a:t>
            </a:r>
            <a:r>
              <a:rPr dirty="0" err="1"/>
              <a:t>운임</a:t>
            </a:r>
            <a:r>
              <a:rPr dirty="0"/>
              <a:t> </a:t>
            </a:r>
            <a:r>
              <a:rPr dirty="0" err="1"/>
              <a:t>요금</a:t>
            </a:r>
            <a:br>
              <a:rPr dirty="0"/>
            </a:br>
            <a:r>
              <a:rPr dirty="0"/>
              <a:t>   - </a:t>
            </a:r>
            <a:r>
              <a:rPr dirty="0" err="1"/>
              <a:t>토종</a:t>
            </a:r>
            <a:r>
              <a:rPr dirty="0"/>
              <a:t>(</a:t>
            </a:r>
            <a:r>
              <a:rPr dirty="0" err="1"/>
              <a:t>양질토</a:t>
            </a:r>
            <a:r>
              <a:rPr dirty="0"/>
              <a:t>),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(25톤 </a:t>
            </a:r>
            <a:r>
              <a:rPr dirty="0" err="1"/>
              <a:t>덤프</a:t>
            </a:r>
            <a:r>
              <a:rPr dirty="0"/>
              <a:t>),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계약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사항</a:t>
            </a:r>
            <a:br>
              <a:rPr dirty="0"/>
            </a:br>
            <a:r>
              <a:rPr dirty="0"/>
              <a:t>3. [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수락</a:t>
            </a:r>
            <a:r>
              <a:rPr dirty="0"/>
              <a:t>] </a:t>
            </a:r>
            <a:r>
              <a:rPr dirty="0" err="1"/>
              <a:t>고시인성</a:t>
            </a:r>
            <a:r>
              <a:rPr dirty="0"/>
              <a:t> </a:t>
            </a:r>
            <a:r>
              <a:rPr dirty="0" err="1"/>
              <a:t>머스터드</a:t>
            </a:r>
            <a:r>
              <a:rPr dirty="0"/>
              <a:t> </a:t>
            </a:r>
            <a:r>
              <a:rPr dirty="0" err="1"/>
              <a:t>황색</a:t>
            </a:r>
            <a:r>
              <a:rPr dirty="0"/>
              <a:t> </a:t>
            </a:r>
            <a:r>
              <a:rPr dirty="0" err="1"/>
              <a:t>액션</a:t>
            </a:r>
            <a:r>
              <a:rPr dirty="0"/>
              <a:t> </a:t>
            </a:r>
            <a:r>
              <a:rPr dirty="0" err="1"/>
              <a:t>버튼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배차 상세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80160"/>
            <a:ext cx="384048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출발: 송도 현대 아파트 ➔ 도착: 영종 사토장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373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지도 시각화 및 예상 주행 거리: 18.2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651760"/>
            <a:ext cx="22860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374904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상세 운송 요건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114800"/>
            <a:ext cx="34747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• 상차지: 송도 현대아파트 현장 (연락처: 010-***-****)</a:t>
            </a:r>
            <a:br/>
            <a:r>
              <a:t>• 하차지: 영종 남단 사토 매립지 (연락처: 010-***-****)</a:t>
            </a:r>
            <a:br/>
            <a:r>
              <a:t>• 토사 종류: 양질토 (성토/복토용 적합 토사)</a:t>
            </a:r>
            <a:br/>
            <a:r>
              <a:t>• 허용 규격: 25톤 덤프트럭 1대 모집</a:t>
            </a:r>
            <a:br/>
            <a:r>
              <a:t>• 지불 조건: 화주 상차지 지출  |  정산 방식: 당일 즉시 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4864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운송 단가: 150,000 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56921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배차 수락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미터기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080760" cy="2771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백그라운드로</a:t>
            </a:r>
            <a:r>
              <a:rPr dirty="0"/>
              <a:t> </a:t>
            </a:r>
            <a:r>
              <a:rPr dirty="0" err="1"/>
              <a:t>작동하는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및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 </a:t>
            </a:r>
            <a:r>
              <a:rPr dirty="0" err="1"/>
              <a:t>계산</a:t>
            </a:r>
            <a:br>
              <a:rPr dirty="0"/>
            </a:br>
            <a:r>
              <a:rPr dirty="0"/>
              <a:t>-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내비게이션</a:t>
            </a:r>
            <a:r>
              <a:rPr dirty="0"/>
              <a:t> 앱(</a:t>
            </a:r>
            <a:r>
              <a:rPr dirty="0" err="1"/>
              <a:t>Tmap</a:t>
            </a:r>
            <a:r>
              <a:rPr dirty="0"/>
              <a:t> 등)을 </a:t>
            </a:r>
            <a:r>
              <a:rPr dirty="0" err="1"/>
              <a:t>보더라도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위에</a:t>
            </a:r>
            <a:r>
              <a:rPr dirty="0"/>
              <a:t> </a:t>
            </a:r>
            <a:r>
              <a:rPr dirty="0" err="1"/>
              <a:t>플로팅</a:t>
            </a:r>
            <a:r>
              <a:rPr dirty="0"/>
              <a:t> </a:t>
            </a:r>
            <a:r>
              <a:rPr dirty="0" err="1"/>
              <a:t>미터기로</a:t>
            </a:r>
            <a:r>
              <a:rPr dirty="0"/>
              <a:t> </a:t>
            </a:r>
            <a:r>
              <a:rPr dirty="0" err="1"/>
              <a:t>금액</a:t>
            </a:r>
            <a:r>
              <a:rPr dirty="0"/>
              <a:t> </a:t>
            </a:r>
            <a:r>
              <a:rPr dirty="0" err="1"/>
              <a:t>스트리밍</a:t>
            </a:r>
            <a:br>
              <a:rPr dirty="0"/>
            </a:br>
            <a:r>
              <a:rPr dirty="0"/>
              <a:t>-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(200m)에 </a:t>
            </a:r>
            <a:r>
              <a:rPr dirty="0" err="1"/>
              <a:t>도달하면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활성화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</a:t>
            </a:r>
            <a:br>
              <a:rPr dirty="0"/>
            </a:br>
            <a:r>
              <a:rPr dirty="0"/>
              <a:t>1.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: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금액을</a:t>
            </a:r>
            <a:r>
              <a:rPr dirty="0"/>
              <a:t> </a:t>
            </a:r>
            <a:r>
              <a:rPr dirty="0" err="1"/>
              <a:t>대형</a:t>
            </a:r>
            <a:r>
              <a:rPr dirty="0"/>
              <a:t> </a:t>
            </a:r>
            <a:r>
              <a:rPr dirty="0" err="1"/>
              <a:t>모노스페이스</a:t>
            </a:r>
            <a:r>
              <a:rPr dirty="0"/>
              <a:t> </a:t>
            </a:r>
            <a:r>
              <a:rPr dirty="0" err="1"/>
              <a:t>골드</a:t>
            </a:r>
            <a:r>
              <a:rPr dirty="0"/>
              <a:t> </a:t>
            </a:r>
            <a:r>
              <a:rPr dirty="0" err="1"/>
              <a:t>서체로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2. </a:t>
            </a:r>
            <a:r>
              <a:rPr dirty="0" err="1"/>
              <a:t>가산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 </a:t>
            </a:r>
            <a:r>
              <a:rPr dirty="0" err="1"/>
              <a:t>뱃지</a:t>
            </a:r>
            <a:r>
              <a:rPr dirty="0"/>
              <a:t>: </a:t>
            </a:r>
            <a:r>
              <a:rPr dirty="0" err="1"/>
              <a:t>거리</a:t>
            </a:r>
            <a:r>
              <a:rPr dirty="0"/>
              <a:t> </a:t>
            </a:r>
            <a:r>
              <a:rPr dirty="0" err="1"/>
              <a:t>가산</a:t>
            </a:r>
            <a:r>
              <a:rPr dirty="0"/>
              <a:t>(&gt;10km/h) 및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가산</a:t>
            </a:r>
            <a:r>
              <a:rPr dirty="0"/>
              <a:t>(&lt;10km/h) </a:t>
            </a:r>
            <a:r>
              <a:rPr dirty="0" err="1"/>
              <a:t>정체</a:t>
            </a:r>
            <a:r>
              <a:rPr dirty="0"/>
              <a:t> </a:t>
            </a:r>
            <a:r>
              <a:rPr dirty="0" err="1"/>
              <a:t>감지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3.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계기판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, </a:t>
            </a:r>
            <a:r>
              <a:rPr dirty="0" err="1"/>
              <a:t>이동한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거리</a:t>
            </a:r>
            <a:r>
              <a:rPr dirty="0"/>
              <a:t>, </a:t>
            </a:r>
            <a:r>
              <a:rPr dirty="0" err="1"/>
              <a:t>경과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카운트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실시간 미터기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80160"/>
            <a:ext cx="384048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46304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하차지 방향 실시간 경로 이동 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84048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397764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실시간 예상 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251960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Malgun Gothic"/>
              </a:defRPr>
            </a:pPr>
            <a:r>
              <a:t>95,000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937760"/>
            <a:ext cx="32918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속도: 60 km/h   |   거리: 12.4 km   |   시간: 00:24:15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하차지 도착 완료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.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및 </a:t>
            </a:r>
            <a:r>
              <a:rPr dirty="0" err="1"/>
              <a:t>지주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5812715" cy="2217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신호</a:t>
            </a:r>
            <a:r>
              <a:rPr dirty="0"/>
              <a:t> </a:t>
            </a:r>
            <a:r>
              <a:rPr dirty="0" err="1"/>
              <a:t>전송</a:t>
            </a:r>
            <a:r>
              <a:rPr dirty="0"/>
              <a:t> 후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지주가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승인할</a:t>
            </a:r>
            <a:r>
              <a:rPr dirty="0"/>
              <a:t> </a:t>
            </a:r>
            <a:r>
              <a:rPr dirty="0" err="1"/>
              <a:t>때까지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단계</a:t>
            </a:r>
            <a:br>
              <a:rPr dirty="0"/>
            </a:br>
            <a:r>
              <a:rPr dirty="0"/>
              <a:t>- </a:t>
            </a:r>
            <a:r>
              <a:rPr dirty="0" err="1"/>
              <a:t>지주</a:t>
            </a:r>
            <a:r>
              <a:rPr dirty="0"/>
              <a:t> </a:t>
            </a:r>
            <a:r>
              <a:rPr dirty="0" err="1"/>
              <a:t>부재</a:t>
            </a:r>
            <a:r>
              <a:rPr dirty="0"/>
              <a:t> 시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접수를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비상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탑재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비상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프로세스</a:t>
            </a:r>
            <a:br>
              <a:rPr dirty="0"/>
            </a:br>
            <a:r>
              <a:rPr dirty="0"/>
              <a:t>- </a:t>
            </a:r>
            <a:r>
              <a:rPr dirty="0" err="1"/>
              <a:t>지주가</a:t>
            </a:r>
            <a:r>
              <a:rPr dirty="0"/>
              <a:t> </a:t>
            </a:r>
            <a:r>
              <a:rPr dirty="0" err="1"/>
              <a:t>자리에</a:t>
            </a:r>
            <a:r>
              <a:rPr dirty="0"/>
              <a:t> </a:t>
            </a:r>
            <a:r>
              <a:rPr dirty="0" err="1"/>
              <a:t>없거나</a:t>
            </a:r>
            <a:r>
              <a:rPr dirty="0"/>
              <a:t> </a:t>
            </a:r>
            <a:r>
              <a:rPr dirty="0" err="1"/>
              <a:t>통화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 시,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증명하는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(</a:t>
            </a:r>
            <a:r>
              <a:rPr dirty="0" err="1"/>
              <a:t>계근대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,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모습</a:t>
            </a:r>
            <a:r>
              <a:rPr dirty="0"/>
              <a:t>)을 </a:t>
            </a:r>
            <a:r>
              <a:rPr dirty="0" err="1"/>
              <a:t>촬영해</a:t>
            </a:r>
            <a:r>
              <a:rPr dirty="0"/>
              <a:t> </a:t>
            </a:r>
            <a:r>
              <a:rPr dirty="0" err="1"/>
              <a:t>업로드</a:t>
            </a:r>
            <a:br>
              <a:rPr dirty="0"/>
            </a:br>
            <a:r>
              <a:rPr dirty="0"/>
              <a:t>-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시 70% </a:t>
            </a:r>
            <a:r>
              <a:rPr dirty="0" err="1"/>
              <a:t>직권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추후</a:t>
            </a:r>
            <a:r>
              <a:rPr dirty="0"/>
              <a:t> </a:t>
            </a:r>
            <a:r>
              <a:rPr dirty="0" err="1"/>
              <a:t>어드민</a:t>
            </a:r>
            <a:r>
              <a:rPr dirty="0"/>
              <a:t> </a:t>
            </a:r>
            <a:r>
              <a:rPr dirty="0" err="1"/>
              <a:t>중재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프로세스로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지주 승인 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55448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Malgun Gothic"/>
              </a:defRPr>
            </a:pPr>
            <a:r>
              <a:t>하차 반입 승인 대기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1168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41080" y="2377440"/>
            <a:ext cx="548640" cy="54864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3108960"/>
            <a:ext cx="32918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지주가 토사 검사 후 반입 승인을 진행 중입니다.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지주 부재 시 비상 증빙 제출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114800"/>
            <a:ext cx="3566160" cy="1188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0" y="452628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92540" y="443484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4754880"/>
            <a:ext cx="3566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사토 현장 사진 촬영 및 첨부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증빙 사진 제출 및 완료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전표</a:t>
            </a:r>
            <a:r>
              <a:rPr dirty="0"/>
              <a:t> (</a:t>
            </a:r>
            <a:r>
              <a:rPr dirty="0" err="1"/>
              <a:t>영수증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5705139" cy="33252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운행이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승인되어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지급</a:t>
            </a:r>
            <a:r>
              <a:rPr dirty="0"/>
              <a:t> </a:t>
            </a:r>
            <a:r>
              <a:rPr dirty="0" err="1"/>
              <a:t>정산이</a:t>
            </a:r>
            <a:r>
              <a:rPr dirty="0"/>
              <a:t> </a:t>
            </a:r>
            <a:r>
              <a:rPr dirty="0" err="1"/>
              <a:t>확정된</a:t>
            </a:r>
            <a:r>
              <a:rPr dirty="0"/>
              <a:t> </a:t>
            </a:r>
            <a:r>
              <a:rPr dirty="0" err="1"/>
              <a:t>내역을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영수증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공제</a:t>
            </a:r>
            <a:r>
              <a:rPr dirty="0"/>
              <a:t> </a:t>
            </a:r>
            <a:r>
              <a:rPr dirty="0" err="1"/>
              <a:t>내역을</a:t>
            </a:r>
            <a:r>
              <a:rPr dirty="0"/>
              <a:t> </a:t>
            </a:r>
            <a:r>
              <a:rPr dirty="0" err="1"/>
              <a:t>투명하게</a:t>
            </a:r>
            <a:r>
              <a:rPr dirty="0"/>
              <a:t> </a:t>
            </a:r>
            <a:r>
              <a:rPr dirty="0" err="1"/>
              <a:t>안내하여</a:t>
            </a:r>
            <a:r>
              <a:rPr dirty="0"/>
              <a:t> </a:t>
            </a:r>
            <a:r>
              <a:rPr dirty="0" err="1"/>
              <a:t>기사의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실수령액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-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터치</a:t>
            </a:r>
            <a:r>
              <a:rPr dirty="0"/>
              <a:t> 시 </a:t>
            </a:r>
            <a:r>
              <a:rPr dirty="0" err="1"/>
              <a:t>미터기</a:t>
            </a:r>
            <a:r>
              <a:rPr dirty="0"/>
              <a:t> </a:t>
            </a:r>
            <a:r>
              <a:rPr dirty="0" err="1"/>
              <a:t>세션을</a:t>
            </a:r>
            <a:r>
              <a:rPr dirty="0"/>
              <a:t> </a:t>
            </a:r>
            <a:r>
              <a:rPr dirty="0" err="1"/>
              <a:t>완전</a:t>
            </a:r>
            <a:r>
              <a:rPr dirty="0"/>
              <a:t> </a:t>
            </a:r>
            <a:r>
              <a:rPr dirty="0" err="1"/>
              <a:t>종료하고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홈 '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(Screen 2)'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복귀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br>
              <a:rPr dirty="0"/>
            </a:br>
            <a:r>
              <a:rPr dirty="0"/>
              <a:t>1. </a:t>
            </a:r>
            <a:r>
              <a:rPr dirty="0" err="1"/>
              <a:t>전자</a:t>
            </a:r>
            <a:r>
              <a:rPr dirty="0"/>
              <a:t> </a:t>
            </a:r>
            <a:r>
              <a:rPr dirty="0" err="1"/>
              <a:t>전표</a:t>
            </a:r>
            <a:r>
              <a:rPr dirty="0"/>
              <a:t> </a:t>
            </a:r>
            <a:r>
              <a:rPr dirty="0" err="1"/>
              <a:t>명세</a:t>
            </a:r>
            <a:r>
              <a:rPr dirty="0"/>
              <a:t>: </a:t>
            </a:r>
            <a:r>
              <a:rPr dirty="0" err="1"/>
              <a:t>운임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내역</a:t>
            </a:r>
            <a:r>
              <a:rPr dirty="0"/>
              <a:t> 및 </a:t>
            </a:r>
            <a:r>
              <a:rPr dirty="0" err="1"/>
              <a:t>티켓</a:t>
            </a:r>
            <a:r>
              <a:rPr dirty="0"/>
              <a:t> ID</a:t>
            </a:r>
            <a:br>
              <a:rPr dirty="0"/>
            </a:br>
            <a:r>
              <a:rPr dirty="0"/>
              <a:t>2. </a:t>
            </a:r>
            <a:r>
              <a:rPr dirty="0" err="1"/>
              <a:t>정산금</a:t>
            </a:r>
            <a:r>
              <a:rPr dirty="0"/>
              <a:t> </a:t>
            </a:r>
            <a:r>
              <a:rPr dirty="0" err="1"/>
              <a:t>공제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:</a:t>
            </a:r>
            <a:br>
              <a:rPr dirty="0"/>
            </a:br>
            <a:r>
              <a:rPr dirty="0"/>
              <a:t>   - 총 </a:t>
            </a:r>
            <a:r>
              <a:rPr dirty="0" err="1"/>
              <a:t>발생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 (예: 150,000원)</a:t>
            </a:r>
            <a:br>
              <a:rPr dirty="0"/>
            </a:br>
            <a:r>
              <a:rPr dirty="0"/>
              <a:t>   -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차감액</a:t>
            </a:r>
            <a:r>
              <a:rPr dirty="0"/>
              <a:t> (예: -15,000원)</a:t>
            </a:r>
            <a:br>
              <a:rPr dirty="0"/>
            </a:br>
            <a:r>
              <a:rPr dirty="0"/>
              <a:t>   -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지급</a:t>
            </a:r>
            <a:r>
              <a:rPr dirty="0"/>
              <a:t> </a:t>
            </a:r>
            <a:r>
              <a:rPr dirty="0" err="1"/>
              <a:t>정산액</a:t>
            </a:r>
            <a:r>
              <a:rPr dirty="0"/>
              <a:t> (예: 135,000원)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전자 전표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5544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737360"/>
            <a:ext cx="32918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Malgun Gothic"/>
              </a:defRPr>
            </a:pPr>
            <a:r>
              <a:t>운행 완료 영수증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10312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티켓 번호: #1094  |  운행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468880"/>
            <a:ext cx="329184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2651760"/>
            <a:ext cx="329184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• 상차지: 송도 1공구 아파트 현장</a:t>
            </a:r>
            <a:br/>
            <a:r>
              <a:t>• 하차지: 영종 남단 사토 매립지</a:t>
            </a:r>
            <a:br/>
            <a:r>
              <a:t>• 운행 거리: 18.2 km</a:t>
            </a:r>
            <a:br/>
            <a:r>
              <a:t>• 소요 시간: 24분 15초</a:t>
            </a:r>
            <a:br/>
            <a:r>
              <a:t>• 운반 규격: 25톤 덤프 1회 운반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749040"/>
            <a:ext cx="329184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93192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총 운임:  150,000 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20624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EF4444"/>
                </a:solidFill>
                <a:latin typeface="Malgun Gothic"/>
              </a:defRPr>
            </a:pPr>
            <a:r>
              <a:t>수수료 공제 (10%):  -15,000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572000"/>
            <a:ext cx="32918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기사 최종 정산액: 135,000 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확인 및 홈 복귀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.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(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0492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기사가 운행을 마치고 정산 처리된 과거 모든 오더 내역 확인</a:t>
            </a:r>
            <a:br/>
            <a:r>
              <a:t>- 정산 완료 여부에 따라 카드에 시각적인 뱃지(대기/완료) 표기</a:t>
            </a:r>
            <a:br/>
            <a:r>
              <a:t>- 기사가 스스로 일자별 총 수익과 누적 지급액을 대조해 볼 수 있는 투명한 이력 제공</a:t>
            </a:r>
            <a:br/>
            <a:br/>
            <a:r>
              <a:t>■ 주요 구성 요소</a:t>
            </a:r>
            <a:br/>
            <a:r>
              <a:t>1. 상단 토글 탭: [배차 목록] / [완료 목록 (선택)]</a:t>
            </a:r>
            <a:br/>
            <a:r>
              <a:t>2. 정산 여부 뱃지 명세:</a:t>
            </a:r>
            <a:br/>
            <a:r>
              <a:t>   - [정산완료 🟢]: 차주 및 기사 통장으로 입금 완료된 운행 건</a:t>
            </a:r>
            <a:br/>
            <a:r>
              <a:t>   - [정산대기 🟡]: 하차지 승인은 났으나 일괄 정산 주기 대기 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덤프링 - 운행 완료 이력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49047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🔍 날짜, 현장명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965960"/>
            <a:ext cx="3840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15400" y="1965960"/>
            <a:ext cx="1920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233172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203911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배차 목록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3911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완료 목록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5146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60604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2026.06.05  |  티켓 #1094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3464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송도 1공구 현장 ➔ 영종 사토장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9184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150,000 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3291840"/>
            <a:ext cx="10515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3328416"/>
            <a:ext cx="1051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정산 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84048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93192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2026.06.04  |  티켓 #1088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송도 1공구 현장 ➔ 영종 사토장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61772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150,000 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4617720"/>
            <a:ext cx="10515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4654296"/>
            <a:ext cx="1051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정산 대기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현장 관리자</a:t>
            </a:r>
            <a:endParaRPr sz="8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062CD77F-9C5C-4C42-E0B8-82498621F7AA}"/>
              </a:ext>
            </a:extLst>
          </p:cNvPr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현장 종합 관제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6035041" cy="24942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투입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및 </a:t>
            </a:r>
            <a:r>
              <a:rPr dirty="0" err="1"/>
              <a:t>일일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현황을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분석하는</a:t>
            </a:r>
            <a:r>
              <a:rPr dirty="0"/>
              <a:t> </a:t>
            </a:r>
            <a:r>
              <a:rPr dirty="0" err="1"/>
              <a:t>메인</a:t>
            </a:r>
            <a:r>
              <a:rPr dirty="0"/>
              <a:t> 웹 </a:t>
            </a:r>
            <a:r>
              <a:rPr dirty="0" err="1"/>
              <a:t>콘솔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카드를</a:t>
            </a:r>
            <a:r>
              <a:rPr dirty="0"/>
              <a:t> </a:t>
            </a:r>
            <a:r>
              <a:rPr dirty="0" err="1"/>
              <a:t>상단에</a:t>
            </a:r>
            <a:r>
              <a:rPr dirty="0"/>
              <a:t> </a:t>
            </a:r>
            <a:r>
              <a:rPr dirty="0" err="1"/>
              <a:t>배치하여</a:t>
            </a:r>
            <a:r>
              <a:rPr dirty="0"/>
              <a:t>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의사결정</a:t>
            </a:r>
            <a:r>
              <a:rPr dirty="0"/>
              <a:t> </a:t>
            </a:r>
            <a:r>
              <a:rPr dirty="0" err="1"/>
              <a:t>지원</a:t>
            </a:r>
            <a:br>
              <a:rPr dirty="0"/>
            </a:br>
            <a:r>
              <a:rPr dirty="0"/>
              <a:t>- </a:t>
            </a:r>
            <a:r>
              <a:rPr dirty="0" err="1"/>
              <a:t>시간대별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물량을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통계</a:t>
            </a:r>
            <a:r>
              <a:rPr dirty="0"/>
              <a:t> </a:t>
            </a:r>
            <a:r>
              <a:rPr dirty="0" err="1"/>
              <a:t>차트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 </a:t>
            </a:r>
            <a:r>
              <a:rPr dirty="0" err="1"/>
              <a:t>탑재</a:t>
            </a:r>
            <a:br>
              <a:rPr dirty="0"/>
            </a:br>
            <a:br>
              <a:rPr dirty="0"/>
            </a:br>
            <a:r>
              <a:rPr dirty="0"/>
              <a:t>■ UI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br>
              <a:rPr dirty="0"/>
            </a:br>
            <a:r>
              <a:rPr dirty="0"/>
              <a:t>1. </a:t>
            </a:r>
            <a:r>
              <a:rPr dirty="0" err="1"/>
              <a:t>통계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: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(12대), 총 </a:t>
            </a:r>
            <a:r>
              <a:rPr dirty="0" err="1"/>
              <a:t>운송</a:t>
            </a:r>
            <a:r>
              <a:rPr dirty="0"/>
              <a:t>(48회),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(4.8백만원) </a:t>
            </a:r>
            <a:r>
              <a:rPr dirty="0" err="1"/>
              <a:t>합계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2.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위젯</a:t>
            </a:r>
            <a:r>
              <a:rPr dirty="0"/>
              <a:t>: </a:t>
            </a:r>
            <a:r>
              <a:rPr dirty="0" err="1"/>
              <a:t>당일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물량</a:t>
            </a:r>
            <a:r>
              <a:rPr dirty="0"/>
              <a:t> </a:t>
            </a:r>
            <a:r>
              <a:rPr dirty="0" err="1"/>
              <a:t>변동</a:t>
            </a:r>
            <a:r>
              <a:rPr dirty="0"/>
              <a:t> </a:t>
            </a:r>
            <a:r>
              <a:rPr dirty="0" err="1"/>
              <a:t>차트</a:t>
            </a:r>
            <a:br>
              <a:rPr dirty="0"/>
            </a:br>
            <a:r>
              <a:rPr dirty="0"/>
              <a:t>3. </a:t>
            </a:r>
            <a:r>
              <a:rPr dirty="0" err="1"/>
              <a:t>관제</a:t>
            </a:r>
            <a:r>
              <a:rPr dirty="0"/>
              <a:t> </a:t>
            </a:r>
            <a:r>
              <a:rPr dirty="0" err="1"/>
              <a:t>테이블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번호판</a:t>
            </a:r>
            <a:r>
              <a:rPr dirty="0"/>
              <a:t>, </a:t>
            </a:r>
            <a:r>
              <a:rPr dirty="0" err="1"/>
              <a:t>기사명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명세표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162798" y="914400"/>
            <a:ext cx="3657600" cy="475488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62798" y="914400"/>
            <a:ext cx="36576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80334" y="987552"/>
            <a:ext cx="3457184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관리자 콘솔 -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6361" y="1476268"/>
            <a:ext cx="105218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8593521" y="1567708"/>
            <a:ext cx="1052186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sz="800"/>
              <a:t>운행 트럭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3521" y="1796308"/>
            <a:ext cx="105218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rPr sz="1200"/>
              <a:t>12 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0772" y="1463040"/>
            <a:ext cx="105218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7527932" y="1554480"/>
            <a:ext cx="1052186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sz="800"/>
              <a:t>총 운송 횟수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7932" y="1783080"/>
            <a:ext cx="105218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rPr sz="1200"/>
              <a:t>48 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3892" y="1463040"/>
            <a:ext cx="105218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9631052" y="1554480"/>
            <a:ext cx="1052186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sz="800"/>
              <a:t>누적 발생 운임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052" y="1783080"/>
            <a:ext cx="105218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rPr sz="1200"/>
              <a:t>4,800,000 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9102" y="2468880"/>
            <a:ext cx="33569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06638" y="2560320"/>
            <a:ext cx="3156559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시간대별 배차 물량 통계 (차트 영역)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6992" y="3200400"/>
            <a:ext cx="225468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89102" y="4114800"/>
            <a:ext cx="335697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97870" y="4206240"/>
            <a:ext cx="3256767" cy="65248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차량번호      규격      기사명      상태</a:t>
            </a:r>
            <a:br/>
            <a:r>
              <a:t>12가3456      25톤      김덤프      하차 완료</a:t>
            </a:r>
            <a:br/>
            <a:r>
              <a:t>78나9012      25톤      이배차      상차 대기</a:t>
            </a:r>
            <a:br/>
            <a:r>
              <a:t>34다5678      15톤      박사토      운행 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공사현장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577840" cy="2771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및 </a:t>
            </a:r>
            <a:r>
              <a:rPr dirty="0" err="1"/>
              <a:t>지오펜싱</a:t>
            </a:r>
            <a:r>
              <a:rPr dirty="0"/>
              <a:t>(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감지</a:t>
            </a:r>
            <a:r>
              <a:rPr dirty="0"/>
              <a:t>) </a:t>
            </a:r>
            <a:r>
              <a:rPr dirty="0" err="1"/>
              <a:t>영역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소장이</a:t>
            </a:r>
            <a:r>
              <a:rPr dirty="0"/>
              <a:t> </a:t>
            </a:r>
            <a:r>
              <a:rPr dirty="0" err="1"/>
              <a:t>등록한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좌표</a:t>
            </a:r>
            <a:r>
              <a:rPr dirty="0"/>
              <a:t> </a:t>
            </a: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트럭이</a:t>
            </a:r>
            <a:r>
              <a:rPr dirty="0"/>
              <a:t> </a:t>
            </a:r>
            <a:r>
              <a:rPr dirty="0" err="1"/>
              <a:t>들어오면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앱과</a:t>
            </a:r>
            <a:r>
              <a:rPr dirty="0"/>
              <a:t> </a:t>
            </a:r>
            <a:r>
              <a:rPr dirty="0" err="1"/>
              <a:t>연동되어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서류의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탑재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개요</a:t>
            </a:r>
            <a:r>
              <a:rPr dirty="0"/>
              <a:t>: </a:t>
            </a:r>
            <a:r>
              <a:rPr dirty="0" err="1"/>
              <a:t>건설사명</a:t>
            </a:r>
            <a:r>
              <a:rPr dirty="0"/>
              <a:t>, </a:t>
            </a:r>
            <a:r>
              <a:rPr dirty="0" err="1"/>
              <a:t>현장명</a:t>
            </a:r>
            <a:r>
              <a:rPr dirty="0"/>
              <a:t>, </a:t>
            </a:r>
            <a:r>
              <a:rPr dirty="0" err="1"/>
              <a:t>공사</a:t>
            </a:r>
            <a:r>
              <a:rPr dirty="0"/>
              <a:t> 총 </a:t>
            </a:r>
            <a:r>
              <a:rPr dirty="0" err="1"/>
              <a:t>기간</a:t>
            </a:r>
            <a:r>
              <a:rPr dirty="0"/>
              <a:t> 등 </a:t>
            </a:r>
            <a:r>
              <a:rPr dirty="0" err="1"/>
              <a:t>출력</a:t>
            </a:r>
            <a:br>
              <a:rPr dirty="0"/>
            </a:br>
            <a:r>
              <a:rPr dirty="0"/>
              <a:t>2.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: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인식을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반경</a:t>
            </a:r>
            <a:r>
              <a:rPr dirty="0"/>
              <a:t>(m) </a:t>
            </a:r>
            <a:r>
              <a:rPr dirty="0" err="1"/>
              <a:t>설정</a:t>
            </a:r>
            <a:r>
              <a:rPr dirty="0"/>
              <a:t> 바</a:t>
            </a:r>
            <a:br>
              <a:rPr dirty="0"/>
            </a:br>
            <a:r>
              <a:rPr dirty="0"/>
              <a:t>3.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서류함</a:t>
            </a:r>
            <a:r>
              <a:rPr dirty="0"/>
              <a:t>: </a:t>
            </a:r>
            <a:r>
              <a:rPr dirty="0" err="1"/>
              <a:t>건설업</a:t>
            </a:r>
            <a:r>
              <a:rPr dirty="0"/>
              <a:t> </a:t>
            </a:r>
            <a:r>
              <a:rPr dirty="0" err="1"/>
              <a:t>면허</a:t>
            </a:r>
            <a:r>
              <a:rPr dirty="0"/>
              <a:t> 및 </a:t>
            </a:r>
            <a:r>
              <a:rPr dirty="0" err="1"/>
              <a:t>계약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썸네일</a:t>
            </a:r>
            <a:r>
              <a:rPr dirty="0"/>
              <a:t> </a:t>
            </a:r>
            <a:r>
              <a:rPr dirty="0" err="1"/>
              <a:t>박스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현장 정보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소속 현장 개요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3566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828800"/>
            <a:ext cx="32918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• 건설사: 대우건설 (주)</a:t>
            </a:r>
            <a:br/>
            <a:r>
              <a:t>• 현장명: 송도 1공구 아파트 신축공사 현장</a:t>
            </a:r>
            <a:br/>
            <a:r>
              <a:t>• 공사 기간: 2026.06.01 ~ 2028.05.31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92608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자동 입차 지오펜싱 반경 설정: 200m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3291840"/>
            <a:ext cx="3474720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66760" y="3200400"/>
            <a:ext cx="2286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36576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현장 증빙 서류 보관함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931920"/>
            <a:ext cx="3566160" cy="1188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78240" y="4343400"/>
            <a:ext cx="274320" cy="457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92540" y="4251960"/>
            <a:ext cx="45720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4572000"/>
            <a:ext cx="3566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건설업 등록증 사본 첨부 (승인완료)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현장 정보 수정 완료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. B2B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lang="ko-KR" altLang="en-US" dirty="0"/>
              <a:t>목록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7186" cy="24942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내 </a:t>
            </a:r>
            <a:r>
              <a:rPr dirty="0" err="1"/>
              <a:t>반출할</a:t>
            </a:r>
            <a:r>
              <a:rPr dirty="0"/>
              <a:t> </a:t>
            </a:r>
            <a:r>
              <a:rPr dirty="0" err="1"/>
              <a:t>토사가</a:t>
            </a:r>
            <a:r>
              <a:rPr dirty="0"/>
              <a:t> </a:t>
            </a:r>
            <a:r>
              <a:rPr dirty="0" err="1"/>
              <a:t>생겼을</a:t>
            </a:r>
            <a:r>
              <a:rPr dirty="0"/>
              <a:t> 때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모집을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오더를</a:t>
            </a:r>
            <a:r>
              <a:rPr dirty="0"/>
              <a:t> </a:t>
            </a:r>
            <a:r>
              <a:rPr dirty="0" err="1"/>
              <a:t>기안</a:t>
            </a:r>
            <a:r>
              <a:rPr dirty="0"/>
              <a:t> 및 </a:t>
            </a:r>
            <a:r>
              <a:rPr dirty="0" err="1"/>
              <a:t>공포하는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시 </a:t>
            </a:r>
            <a:r>
              <a:rPr dirty="0" err="1"/>
              <a:t>연동된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(</a:t>
            </a:r>
            <a:r>
              <a:rPr dirty="0" err="1"/>
              <a:t>사토장</a:t>
            </a:r>
            <a:r>
              <a:rPr dirty="0"/>
              <a:t>) </a:t>
            </a:r>
            <a:r>
              <a:rPr dirty="0" err="1"/>
              <a:t>지주에게</a:t>
            </a:r>
            <a:r>
              <a:rPr dirty="0"/>
              <a:t> 1차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발송</a:t>
            </a:r>
            <a:br>
              <a:rPr dirty="0"/>
            </a:br>
            <a:r>
              <a:rPr dirty="0"/>
              <a:t>- </a:t>
            </a:r>
            <a:r>
              <a:rPr dirty="0" err="1"/>
              <a:t>지주가</a:t>
            </a:r>
            <a:r>
              <a:rPr dirty="0"/>
              <a:t>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완료하면</a:t>
            </a:r>
            <a:r>
              <a:rPr dirty="0"/>
              <a:t>, </a:t>
            </a:r>
            <a:r>
              <a:rPr dirty="0" err="1"/>
              <a:t>기사</a:t>
            </a:r>
            <a:r>
              <a:rPr dirty="0"/>
              <a:t> 홈 '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리스트'에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노출</a:t>
            </a:r>
            <a:r>
              <a:rPr dirty="0"/>
              <a:t> </a:t>
            </a:r>
            <a:r>
              <a:rPr dirty="0" err="1"/>
              <a:t>개시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: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명칭</a:t>
            </a:r>
            <a:r>
              <a:rPr dirty="0"/>
              <a:t> 및 </a:t>
            </a:r>
            <a:r>
              <a:rPr dirty="0" err="1"/>
              <a:t>모집할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대수</a:t>
            </a:r>
            <a:r>
              <a:rPr dirty="0"/>
              <a:t> </a:t>
            </a:r>
            <a:r>
              <a:rPr dirty="0" err="1"/>
              <a:t>기입</a:t>
            </a:r>
            <a:br>
              <a:rPr dirty="0"/>
            </a:br>
            <a:r>
              <a:rPr dirty="0"/>
              <a:t>2. </a:t>
            </a:r>
            <a:r>
              <a:rPr dirty="0" err="1"/>
              <a:t>규격</a:t>
            </a:r>
            <a:r>
              <a:rPr dirty="0"/>
              <a:t>/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: </a:t>
            </a:r>
            <a:r>
              <a:rPr dirty="0" err="1"/>
              <a:t>덤프트럭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(15T/25T) 및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속성</a:t>
            </a:r>
            <a:r>
              <a:rPr dirty="0"/>
              <a:t>(</a:t>
            </a:r>
            <a:r>
              <a:rPr dirty="0" err="1"/>
              <a:t>양질토</a:t>
            </a:r>
            <a:r>
              <a:rPr dirty="0"/>
              <a:t>/</a:t>
            </a:r>
            <a:r>
              <a:rPr dirty="0" err="1"/>
              <a:t>뻘흙</a:t>
            </a:r>
            <a:r>
              <a:rPr dirty="0"/>
              <a:t> 등) </a:t>
            </a:r>
            <a:r>
              <a:rPr dirty="0" err="1"/>
              <a:t>선택</a:t>
            </a:r>
            <a:br>
              <a:rPr dirty="0"/>
            </a:br>
            <a:r>
              <a:rPr dirty="0"/>
              <a:t>3.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: </a:t>
            </a:r>
            <a:r>
              <a:rPr dirty="0" err="1"/>
              <a:t>연동할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/</a:t>
            </a:r>
            <a:r>
              <a:rPr dirty="0" err="1"/>
              <a:t>선택</a:t>
            </a:r>
            <a:r>
              <a:rPr dirty="0"/>
              <a:t> 및 1회당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(</a:t>
            </a:r>
            <a:r>
              <a:rPr dirty="0" err="1"/>
              <a:t>단가</a:t>
            </a:r>
            <a:r>
              <a:rPr dirty="0"/>
              <a:t>) </a:t>
            </a:r>
            <a:r>
              <a:rPr dirty="0" err="1"/>
              <a:t>입력</a:t>
            </a:r>
            <a:endParaRPr dirty="0"/>
          </a:p>
        </p:txBody>
      </p:sp>
      <p:sp>
        <p:nvSpPr>
          <p:cNvPr id="28" name="Rounded Rectangle 4">
            <a:extLst>
              <a:ext uri="{FF2B5EF4-FFF2-40B4-BE49-F238E27FC236}">
                <a16:creationId xmlns:a16="http://schemas.microsoft.com/office/drawing/2014/main" id="{E14981C6-073F-66A9-DE27-B4CFE0A89679}"/>
              </a:ext>
            </a:extLst>
          </p:cNvPr>
          <p:cNvSpPr/>
          <p:nvPr/>
        </p:nvSpPr>
        <p:spPr>
          <a:xfrm>
            <a:off x="6955984" y="50292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7EF3DEF6-BD47-F79A-5C32-041EF66E0305}"/>
              </a:ext>
            </a:extLst>
          </p:cNvPr>
          <p:cNvSpPr/>
          <p:nvPr/>
        </p:nvSpPr>
        <p:spPr>
          <a:xfrm>
            <a:off x="7093144" y="86868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0CCE698B-0698-E27E-43CF-25BD54BEB451}"/>
              </a:ext>
            </a:extLst>
          </p:cNvPr>
          <p:cNvSpPr/>
          <p:nvPr/>
        </p:nvSpPr>
        <p:spPr>
          <a:xfrm>
            <a:off x="7093144" y="86868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6690BF-9117-852E-7612-79A35602ACDA}"/>
              </a:ext>
            </a:extLst>
          </p:cNvPr>
          <p:cNvSpPr txBox="1"/>
          <p:nvPr/>
        </p:nvSpPr>
        <p:spPr>
          <a:xfrm>
            <a:off x="7230304" y="97840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덤프링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FE2B507A-670D-8888-489B-D38253112570}"/>
              </a:ext>
            </a:extLst>
          </p:cNvPr>
          <p:cNvSpPr/>
          <p:nvPr/>
        </p:nvSpPr>
        <p:spPr>
          <a:xfrm>
            <a:off x="7230304" y="1463040"/>
            <a:ext cx="3566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24BE05-31C0-597F-BD11-8A164903E0CF}"/>
              </a:ext>
            </a:extLst>
          </p:cNvPr>
          <p:cNvSpPr txBox="1"/>
          <p:nvPr/>
        </p:nvSpPr>
        <p:spPr>
          <a:xfrm>
            <a:off x="7367464" y="153619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🔍 현장명, 지역, 자재명 검색</a:t>
            </a: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27310ED2-BF6C-19CC-C234-328E3A79FED3}"/>
              </a:ext>
            </a:extLst>
          </p:cNvPr>
          <p:cNvSpPr/>
          <p:nvPr/>
        </p:nvSpPr>
        <p:spPr>
          <a:xfrm>
            <a:off x="7093144" y="2011680"/>
            <a:ext cx="3840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CB55144F-476E-3DE9-63B1-C48713B745D2}"/>
              </a:ext>
            </a:extLst>
          </p:cNvPr>
          <p:cNvSpPr/>
          <p:nvPr/>
        </p:nvSpPr>
        <p:spPr>
          <a:xfrm>
            <a:off x="7093144" y="2011680"/>
            <a:ext cx="1920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16D9AD9E-03B7-02EC-2806-9635E9F18E1C}"/>
              </a:ext>
            </a:extLst>
          </p:cNvPr>
          <p:cNvSpPr/>
          <p:nvPr/>
        </p:nvSpPr>
        <p:spPr>
          <a:xfrm>
            <a:off x="7093144" y="237744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33DED1-70C2-5281-1DC1-C02933F033AF}"/>
              </a:ext>
            </a:extLst>
          </p:cNvPr>
          <p:cNvSpPr txBox="1"/>
          <p:nvPr/>
        </p:nvSpPr>
        <p:spPr>
          <a:xfrm>
            <a:off x="7093144" y="208483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배차 목록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8EC647-C928-A3AB-DA4D-48CD0195988F}"/>
              </a:ext>
            </a:extLst>
          </p:cNvPr>
          <p:cNvSpPr txBox="1"/>
          <p:nvPr/>
        </p:nvSpPr>
        <p:spPr>
          <a:xfrm>
            <a:off x="9013384" y="208483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완료 목록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8CE03CC-8576-23C3-EA57-A8461C5581ED}"/>
              </a:ext>
            </a:extLst>
          </p:cNvPr>
          <p:cNvSpPr/>
          <p:nvPr/>
        </p:nvSpPr>
        <p:spPr>
          <a:xfrm>
            <a:off x="7230304" y="25603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BC512E-3D70-CF34-101F-89F7DF64F57F}"/>
              </a:ext>
            </a:extLst>
          </p:cNvPr>
          <p:cNvSpPr txBox="1"/>
          <p:nvPr/>
        </p:nvSpPr>
        <p:spPr>
          <a:xfrm>
            <a:off x="7321744" y="265176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송도 1공구 아파트 ➔ 영종 사토장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69A753-A56E-B00D-5DDE-805D02F7C67D}"/>
              </a:ext>
            </a:extLst>
          </p:cNvPr>
          <p:cNvSpPr txBox="1"/>
          <p:nvPr/>
        </p:nvSpPr>
        <p:spPr>
          <a:xfrm>
            <a:off x="7321744" y="2907792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자재: 양질토  |  규격: 25톤 덤프  |  이동: 18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2BFD07-148E-A240-5F3C-D2C0A61FD58D}"/>
              </a:ext>
            </a:extLst>
          </p:cNvPr>
          <p:cNvSpPr txBox="1"/>
          <p:nvPr/>
        </p:nvSpPr>
        <p:spPr>
          <a:xfrm>
            <a:off x="7321744" y="333756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150,000 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69F3EC-52A3-232D-08F9-BB4DA8A9DDB2}"/>
              </a:ext>
            </a:extLst>
          </p:cNvPr>
          <p:cNvSpPr txBox="1"/>
          <p:nvPr/>
        </p:nvSpPr>
        <p:spPr>
          <a:xfrm>
            <a:off x="9562024" y="336499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상차지 지급</a:t>
            </a:r>
          </a:p>
        </p:txBody>
      </p:sp>
      <p:sp>
        <p:nvSpPr>
          <p:cNvPr id="44" name="Rounded Rectangle 20">
            <a:extLst>
              <a:ext uri="{FF2B5EF4-FFF2-40B4-BE49-F238E27FC236}">
                <a16:creationId xmlns:a16="http://schemas.microsoft.com/office/drawing/2014/main" id="{A74F9FD4-B52C-A37D-9C15-D188409E9947}"/>
              </a:ext>
            </a:extLst>
          </p:cNvPr>
          <p:cNvSpPr/>
          <p:nvPr/>
        </p:nvSpPr>
        <p:spPr>
          <a:xfrm>
            <a:off x="7230304" y="38862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6B1183-ECF8-3C10-3A1C-8E3FD35B1115}"/>
              </a:ext>
            </a:extLst>
          </p:cNvPr>
          <p:cNvSpPr txBox="1"/>
          <p:nvPr/>
        </p:nvSpPr>
        <p:spPr>
          <a:xfrm>
            <a:off x="7321744" y="3977640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인천대교 북단 현장 ➔ 송도 사토장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183155-0499-7330-56CF-3ABF7B14F2F9}"/>
              </a:ext>
            </a:extLst>
          </p:cNvPr>
          <p:cNvSpPr txBox="1"/>
          <p:nvPr/>
        </p:nvSpPr>
        <p:spPr>
          <a:xfrm>
            <a:off x="7321744" y="4233672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자재: 혼합토  |  규격: 15톤 덤프  |  이동: 10 km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DB7FB-A1BB-F03B-F715-0AEB37A33E4E}"/>
              </a:ext>
            </a:extLst>
          </p:cNvPr>
          <p:cNvSpPr txBox="1"/>
          <p:nvPr/>
        </p:nvSpPr>
        <p:spPr>
          <a:xfrm>
            <a:off x="7321744" y="466344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110,000 원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2F7DBB-FDA2-0ED9-278B-94992A5B7F32}"/>
              </a:ext>
            </a:extLst>
          </p:cNvPr>
          <p:cNvSpPr txBox="1"/>
          <p:nvPr/>
        </p:nvSpPr>
        <p:spPr>
          <a:xfrm>
            <a:off x="9562024" y="469087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하차지 지급</a:t>
            </a:r>
          </a:p>
        </p:txBody>
      </p:sp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37D91F0E-AB9F-8065-4303-8450511468D2}"/>
              </a:ext>
            </a:extLst>
          </p:cNvPr>
          <p:cNvSpPr/>
          <p:nvPr/>
        </p:nvSpPr>
        <p:spPr>
          <a:xfrm>
            <a:off x="7269480" y="5669280"/>
            <a:ext cx="10058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E45675-953E-083A-A5A5-B90FA2815AB1}"/>
              </a:ext>
            </a:extLst>
          </p:cNvPr>
          <p:cNvSpPr txBox="1"/>
          <p:nvPr/>
        </p:nvSpPr>
        <p:spPr>
          <a:xfrm>
            <a:off x="6995160" y="5760720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배차 요청 등록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F13F-0F8D-273F-5681-E907150B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862923-5262-5B0F-72BB-A281DA2F294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034AE-5314-C6CF-5802-B659E4A50104}"/>
              </a:ext>
            </a:extLst>
          </p:cNvPr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. B2B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02D06-59FA-044D-7908-2074ACC7B03D}"/>
              </a:ext>
            </a:extLst>
          </p:cNvPr>
          <p:cNvSpPr txBox="1"/>
          <p:nvPr/>
        </p:nvSpPr>
        <p:spPr>
          <a:xfrm>
            <a:off x="731520" y="1645920"/>
            <a:ext cx="5794786" cy="24942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내 </a:t>
            </a:r>
            <a:r>
              <a:rPr dirty="0" err="1"/>
              <a:t>반출할</a:t>
            </a:r>
            <a:r>
              <a:rPr dirty="0"/>
              <a:t> </a:t>
            </a:r>
            <a:r>
              <a:rPr dirty="0" err="1"/>
              <a:t>토사가</a:t>
            </a:r>
            <a:r>
              <a:rPr dirty="0"/>
              <a:t> </a:t>
            </a:r>
            <a:r>
              <a:rPr dirty="0" err="1"/>
              <a:t>생겼을</a:t>
            </a:r>
            <a:r>
              <a:rPr dirty="0"/>
              <a:t> 때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모집을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오더를</a:t>
            </a:r>
            <a:r>
              <a:rPr dirty="0"/>
              <a:t> </a:t>
            </a:r>
            <a:r>
              <a:rPr dirty="0" err="1"/>
              <a:t>기안</a:t>
            </a:r>
            <a:r>
              <a:rPr dirty="0"/>
              <a:t> 및 </a:t>
            </a:r>
            <a:r>
              <a:rPr dirty="0" err="1"/>
              <a:t>공포하는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시 </a:t>
            </a:r>
            <a:r>
              <a:rPr dirty="0" err="1"/>
              <a:t>연동된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(</a:t>
            </a:r>
            <a:r>
              <a:rPr dirty="0" err="1"/>
              <a:t>사토장</a:t>
            </a:r>
            <a:r>
              <a:rPr dirty="0"/>
              <a:t>) </a:t>
            </a:r>
            <a:r>
              <a:rPr dirty="0" err="1"/>
              <a:t>지주에게</a:t>
            </a:r>
            <a:r>
              <a:rPr dirty="0"/>
              <a:t> 1차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발송</a:t>
            </a:r>
            <a:br>
              <a:rPr dirty="0"/>
            </a:br>
            <a:r>
              <a:rPr dirty="0"/>
              <a:t>- </a:t>
            </a:r>
            <a:r>
              <a:rPr dirty="0" err="1"/>
              <a:t>지주가</a:t>
            </a:r>
            <a:r>
              <a:rPr dirty="0"/>
              <a:t>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완료하면</a:t>
            </a:r>
            <a:r>
              <a:rPr dirty="0"/>
              <a:t>, </a:t>
            </a:r>
            <a:r>
              <a:rPr dirty="0" err="1"/>
              <a:t>기사</a:t>
            </a:r>
            <a:r>
              <a:rPr dirty="0"/>
              <a:t> 홈 '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리스트'에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노출</a:t>
            </a:r>
            <a:r>
              <a:rPr dirty="0"/>
              <a:t> </a:t>
            </a:r>
            <a:r>
              <a:rPr dirty="0" err="1"/>
              <a:t>개시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: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명칭</a:t>
            </a:r>
            <a:r>
              <a:rPr dirty="0"/>
              <a:t> 및 </a:t>
            </a:r>
            <a:r>
              <a:rPr dirty="0" err="1"/>
              <a:t>모집할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대수</a:t>
            </a:r>
            <a:r>
              <a:rPr dirty="0"/>
              <a:t> </a:t>
            </a:r>
            <a:r>
              <a:rPr dirty="0" err="1"/>
              <a:t>기입</a:t>
            </a:r>
            <a:br>
              <a:rPr dirty="0"/>
            </a:br>
            <a:r>
              <a:rPr dirty="0"/>
              <a:t>2. </a:t>
            </a:r>
            <a:r>
              <a:rPr dirty="0" err="1"/>
              <a:t>규격</a:t>
            </a:r>
            <a:r>
              <a:rPr dirty="0"/>
              <a:t>/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: </a:t>
            </a:r>
            <a:r>
              <a:rPr dirty="0" err="1"/>
              <a:t>덤프트럭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(15T/25T) 및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속성</a:t>
            </a:r>
            <a:r>
              <a:rPr dirty="0"/>
              <a:t>(</a:t>
            </a:r>
            <a:r>
              <a:rPr dirty="0" err="1"/>
              <a:t>양질토</a:t>
            </a:r>
            <a:r>
              <a:rPr dirty="0"/>
              <a:t>/</a:t>
            </a:r>
            <a:r>
              <a:rPr dirty="0" err="1"/>
              <a:t>뻘흙</a:t>
            </a:r>
            <a:r>
              <a:rPr dirty="0"/>
              <a:t> 등) </a:t>
            </a:r>
            <a:r>
              <a:rPr dirty="0" err="1"/>
              <a:t>선택</a:t>
            </a:r>
            <a:br>
              <a:rPr dirty="0"/>
            </a:br>
            <a:r>
              <a:rPr dirty="0"/>
              <a:t>3.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: </a:t>
            </a:r>
            <a:r>
              <a:rPr dirty="0" err="1"/>
              <a:t>연동할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/</a:t>
            </a:r>
            <a:r>
              <a:rPr dirty="0" err="1"/>
              <a:t>선택</a:t>
            </a:r>
            <a:r>
              <a:rPr dirty="0"/>
              <a:t> 및 1회당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(</a:t>
            </a:r>
            <a:r>
              <a:rPr dirty="0" err="1"/>
              <a:t>단가</a:t>
            </a:r>
            <a:r>
              <a:rPr dirty="0"/>
              <a:t>) </a:t>
            </a:r>
            <a:r>
              <a:rPr dirty="0" err="1"/>
              <a:t>입력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405A4A-F0F1-0A58-5BD9-C185FF2B22C7}"/>
              </a:ext>
            </a:extLst>
          </p:cNvPr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FFF992-7670-C08A-6857-3EC518B9B112}"/>
              </a:ext>
            </a:extLst>
          </p:cNvPr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BB851-FF48-2399-90DA-A64E1AA66ACA}"/>
              </a:ext>
            </a:extLst>
          </p:cNvPr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F2EDF-6294-3489-CB8B-785714B205EB}"/>
              </a:ext>
            </a:extLst>
          </p:cNvPr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오더 등록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2788A-321C-D0CE-BBEA-0ED636EC6F30}"/>
              </a:ext>
            </a:extLst>
          </p:cNvPr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오더 제목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E0B52-D56A-6C27-CF23-EDFDDEBAF181}"/>
              </a:ext>
            </a:extLst>
          </p:cNvPr>
          <p:cNvSpPr/>
          <p:nvPr/>
        </p:nvSpPr>
        <p:spPr>
          <a:xfrm>
            <a:off x="7178040" y="1691640"/>
            <a:ext cx="34747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E13FB-9687-AB1A-5CAC-EC874510E894}"/>
              </a:ext>
            </a:extLst>
          </p:cNvPr>
          <p:cNvSpPr txBox="1"/>
          <p:nvPr/>
        </p:nvSpPr>
        <p:spPr>
          <a:xfrm>
            <a:off x="7269480" y="175564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송도 1공구 아파트 토사 반출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93D80-77FA-D6C6-969C-293953C830A4}"/>
              </a:ext>
            </a:extLst>
          </p:cNvPr>
          <p:cNvSpPr txBox="1"/>
          <p:nvPr/>
        </p:nvSpPr>
        <p:spPr>
          <a:xfrm>
            <a:off x="7178040" y="21945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모집 차량 대수 및 규격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9DB73B-A2F0-E211-909E-A769E7FCE8C7}"/>
              </a:ext>
            </a:extLst>
          </p:cNvPr>
          <p:cNvSpPr/>
          <p:nvPr/>
        </p:nvSpPr>
        <p:spPr>
          <a:xfrm>
            <a:off x="7178040" y="2423160"/>
            <a:ext cx="34747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33531-FF97-73FB-24BB-1C640F170ED0}"/>
              </a:ext>
            </a:extLst>
          </p:cNvPr>
          <p:cNvSpPr txBox="1"/>
          <p:nvPr/>
        </p:nvSpPr>
        <p:spPr>
          <a:xfrm>
            <a:off x="7269480" y="248716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25톤 덤프 10 대 모집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FAF3D-B9AA-3ECC-740B-765350AD8B2B}"/>
              </a:ext>
            </a:extLst>
          </p:cNvPr>
          <p:cNvSpPr txBox="1"/>
          <p:nvPr/>
        </p:nvSpPr>
        <p:spPr>
          <a:xfrm>
            <a:off x="7178040" y="292608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반출 토사 속성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E46FE0-3FB3-B1F1-C0CE-1A8F95C4A464}"/>
              </a:ext>
            </a:extLst>
          </p:cNvPr>
          <p:cNvSpPr/>
          <p:nvPr/>
        </p:nvSpPr>
        <p:spPr>
          <a:xfrm>
            <a:off x="7178040" y="3200400"/>
            <a:ext cx="10058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D28C92-0778-B4D8-0B56-155315DDB15A}"/>
              </a:ext>
            </a:extLst>
          </p:cNvPr>
          <p:cNvSpPr txBox="1"/>
          <p:nvPr/>
        </p:nvSpPr>
        <p:spPr>
          <a:xfrm>
            <a:off x="7178040" y="3273552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양질토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EC225ED-7D67-4A51-2259-FF5A276D2B83}"/>
              </a:ext>
            </a:extLst>
          </p:cNvPr>
          <p:cNvSpPr/>
          <p:nvPr/>
        </p:nvSpPr>
        <p:spPr>
          <a:xfrm>
            <a:off x="8275320" y="3200400"/>
            <a:ext cx="1005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B9533-1684-86B3-31B4-896EF334A765}"/>
              </a:ext>
            </a:extLst>
          </p:cNvPr>
          <p:cNvSpPr txBox="1"/>
          <p:nvPr/>
        </p:nvSpPr>
        <p:spPr>
          <a:xfrm>
            <a:off x="8275320" y="3273552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뻘흙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B608B-0384-7003-2941-26079B52C655}"/>
              </a:ext>
            </a:extLst>
          </p:cNvPr>
          <p:cNvSpPr txBox="1"/>
          <p:nvPr/>
        </p:nvSpPr>
        <p:spPr>
          <a:xfrm>
            <a:off x="7178040" y="3749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연동 하차지(사토장)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5104FA-FE9C-F698-4D7D-074686B4B68D}"/>
              </a:ext>
            </a:extLst>
          </p:cNvPr>
          <p:cNvSpPr/>
          <p:nvPr/>
        </p:nvSpPr>
        <p:spPr>
          <a:xfrm>
            <a:off x="7178040" y="3977640"/>
            <a:ext cx="34747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F046E3-C516-2FEF-DB0A-128A8AC579A2}"/>
              </a:ext>
            </a:extLst>
          </p:cNvPr>
          <p:cNvSpPr txBox="1"/>
          <p:nvPr/>
        </p:nvSpPr>
        <p:spPr>
          <a:xfrm>
            <a:off x="7269480" y="404164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영종도 남단 사토 매립지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AD6436-6D8B-F38F-2C7F-AEE8CB380BE9}"/>
              </a:ext>
            </a:extLst>
          </p:cNvPr>
          <p:cNvSpPr txBox="1"/>
          <p:nvPr/>
        </p:nvSpPr>
        <p:spPr>
          <a:xfrm>
            <a:off x="7178040" y="44805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1회당 운송 요금 (단가)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D0D0ACE-6E5F-A078-BA2E-9F32348E2AC5}"/>
              </a:ext>
            </a:extLst>
          </p:cNvPr>
          <p:cNvSpPr/>
          <p:nvPr/>
        </p:nvSpPr>
        <p:spPr>
          <a:xfrm>
            <a:off x="7178040" y="4709160"/>
            <a:ext cx="34747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F03E0-30AF-3D2F-0C8F-1479D65B75FA}"/>
              </a:ext>
            </a:extLst>
          </p:cNvPr>
          <p:cNvSpPr txBox="1"/>
          <p:nvPr/>
        </p:nvSpPr>
        <p:spPr>
          <a:xfrm>
            <a:off x="7269480" y="477316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Malgun Gothic"/>
              </a:defRPr>
            </a:pPr>
            <a:r>
              <a:t>150,000 원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614402A-7DFF-C273-004D-DC68EB7A6204}"/>
              </a:ext>
            </a:extLst>
          </p:cNvPr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1543E-920B-CAD1-31DF-D2347E730CB5}"/>
              </a:ext>
            </a:extLst>
          </p:cNvPr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B2B 오더 발행 신청</a:t>
            </a:r>
          </a:p>
        </p:txBody>
      </p:sp>
    </p:spTree>
    <p:extLst>
      <p:ext uri="{BB962C8B-B14F-4D97-AF65-F5344CB8AC3E}">
        <p14:creationId xmlns:p14="http://schemas.microsoft.com/office/powerpoint/2010/main" val="248681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직원</a:t>
            </a:r>
            <a:r>
              <a:rPr dirty="0"/>
              <a:t> </a:t>
            </a:r>
            <a:r>
              <a:rPr dirty="0" err="1"/>
              <a:t>권한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및 </a:t>
            </a:r>
            <a:r>
              <a:rPr dirty="0" err="1"/>
              <a:t>승인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852160" cy="2771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</a:t>
            </a:r>
            <a:r>
              <a:rPr dirty="0" err="1"/>
              <a:t>권한을</a:t>
            </a:r>
            <a:r>
              <a:rPr dirty="0"/>
              <a:t> </a:t>
            </a:r>
            <a:r>
              <a:rPr dirty="0" err="1"/>
              <a:t>획득하고자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신청한</a:t>
            </a:r>
            <a:r>
              <a:rPr dirty="0"/>
              <a:t> </a:t>
            </a:r>
            <a:r>
              <a:rPr dirty="0" err="1"/>
              <a:t>직원을</a:t>
            </a:r>
            <a:r>
              <a:rPr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반려하는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소장</a:t>
            </a:r>
            <a:r>
              <a:rPr dirty="0"/>
              <a:t>(</a:t>
            </a:r>
            <a:r>
              <a:rPr dirty="0" err="1"/>
              <a:t>관리자</a:t>
            </a:r>
            <a:r>
              <a:rPr dirty="0"/>
              <a:t>)의 </a:t>
            </a:r>
            <a:r>
              <a:rPr dirty="0" err="1"/>
              <a:t>승인을</a:t>
            </a:r>
            <a:r>
              <a:rPr dirty="0"/>
              <a:t> </a:t>
            </a:r>
            <a:r>
              <a:rPr dirty="0" err="1"/>
              <a:t>득한</a:t>
            </a:r>
            <a:r>
              <a:rPr dirty="0"/>
              <a:t> </a:t>
            </a:r>
            <a:r>
              <a:rPr dirty="0" err="1"/>
              <a:t>직원만</a:t>
            </a:r>
            <a:r>
              <a:rPr dirty="0"/>
              <a:t> 본 </a:t>
            </a:r>
            <a:r>
              <a:rPr dirty="0" err="1"/>
              <a:t>현장의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체크인</a:t>
            </a:r>
            <a:r>
              <a:rPr dirty="0"/>
              <a:t>/</a:t>
            </a:r>
            <a:r>
              <a:rPr dirty="0" err="1"/>
              <a:t>아웃</a:t>
            </a:r>
            <a:r>
              <a:rPr dirty="0"/>
              <a:t> </a:t>
            </a:r>
            <a:r>
              <a:rPr dirty="0" err="1"/>
              <a:t>권한</a:t>
            </a:r>
            <a:r>
              <a:rPr dirty="0"/>
              <a:t> </a:t>
            </a:r>
            <a:r>
              <a:rPr dirty="0" err="1"/>
              <a:t>활성화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(Pending Queue):</a:t>
            </a:r>
            <a:br>
              <a:rPr dirty="0"/>
            </a:br>
            <a:r>
              <a:rPr dirty="0"/>
              <a:t>   - </a:t>
            </a:r>
            <a:r>
              <a:rPr dirty="0" err="1"/>
              <a:t>가입한</a:t>
            </a:r>
            <a:r>
              <a:rPr dirty="0"/>
              <a:t> </a:t>
            </a:r>
            <a:r>
              <a:rPr dirty="0" err="1"/>
              <a:t>직원의</a:t>
            </a:r>
            <a:r>
              <a:rPr dirty="0"/>
              <a:t> </a:t>
            </a:r>
            <a:r>
              <a:rPr dirty="0" err="1"/>
              <a:t>실명</a:t>
            </a:r>
            <a:r>
              <a:rPr dirty="0"/>
              <a:t>, </a:t>
            </a:r>
            <a:r>
              <a:rPr dirty="0" err="1"/>
              <a:t>연락처</a:t>
            </a:r>
            <a:r>
              <a:rPr dirty="0"/>
              <a:t>, </a:t>
            </a:r>
            <a:r>
              <a:rPr dirty="0" err="1"/>
              <a:t>기입</a:t>
            </a:r>
            <a:r>
              <a:rPr dirty="0"/>
              <a:t> </a:t>
            </a:r>
            <a:r>
              <a:rPr dirty="0" err="1"/>
              <a:t>직급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   -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판단할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[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] 및 [</a:t>
            </a:r>
            <a:r>
              <a:rPr dirty="0" err="1"/>
              <a:t>반려</a:t>
            </a:r>
            <a:r>
              <a:rPr dirty="0"/>
              <a:t>] 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r>
              <a:rPr dirty="0"/>
              <a:t>2.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직원</a:t>
            </a:r>
            <a:r>
              <a:rPr dirty="0"/>
              <a:t> </a:t>
            </a:r>
            <a:r>
              <a:rPr dirty="0" err="1"/>
              <a:t>리스트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매핑되어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근무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직원</a:t>
            </a:r>
            <a:r>
              <a:rPr dirty="0"/>
              <a:t> </a:t>
            </a:r>
            <a:r>
              <a:rPr dirty="0" err="1"/>
              <a:t>일람표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현장 직원 권한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승인 대기 직원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847088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홍길동 대리 (연락처: 010-1111-2222)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0312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가입 신청일: 2026.06.05  |  역할: 현장담당자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468880"/>
            <a:ext cx="146304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523744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승인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823960" y="2468880"/>
            <a:ext cx="146304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523744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반려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1089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등록된 소속 직원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83280"/>
            <a:ext cx="3566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52044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이순신 과장  |  상차 게이트 담당 (활성)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069080"/>
            <a:ext cx="3566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420624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임꺽정 사원  |  미배정 (휴무)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3B1294BE-AE9B-D0E5-9000-8DBEF96396C9}"/>
              </a:ext>
            </a:extLst>
          </p:cNvPr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.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마감</a:t>
            </a:r>
            <a:r>
              <a:rPr dirty="0"/>
              <a:t> 및 </a:t>
            </a:r>
            <a:r>
              <a:rPr dirty="0" err="1"/>
              <a:t>세금계산서</a:t>
            </a:r>
            <a:r>
              <a:rPr dirty="0"/>
              <a:t> </a:t>
            </a:r>
            <a:r>
              <a:rPr dirty="0" err="1"/>
              <a:t>청구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5517641" cy="2771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완료된 운행 내역에 대해 마감 처리를 진행하고 세금계산서 발행을 요청하는 청구 콘솔</a:t>
            </a:r>
            <a:br/>
            <a:r>
              <a:t>- 일자별/차량별 상세 주행 전표 합산 내역을 한눈에 조회</a:t>
            </a:r>
            <a:br/>
            <a:r>
              <a:t>- 마감 확정 완료 시 국세청 연동 세금계산서 정산 발행 프로세스 트리거</a:t>
            </a:r>
            <a:br/>
            <a:br/>
            <a:r>
              <a:t>■ 주요 UI 구성</a:t>
            </a:r>
            <a:br/>
            <a:r>
              <a:t>1. 마감 지표: 운송 마감 대상 월, 총 운송 횟수, 마감 합산 세금 청구 금액 요약</a:t>
            </a:r>
            <a:br/>
            <a:r>
              <a:t>2. 하단 상세 그리드: 마감 대상 세부 티켓 리스트</a:t>
            </a:r>
            <a:br/>
            <a:r>
              <a:t>3. 마감 처리 전용 우측 정산 액션 버튼 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7647" y="914400"/>
            <a:ext cx="3953435" cy="530352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7647" y="914399"/>
            <a:ext cx="3953435" cy="407963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10375" y="987552"/>
            <a:ext cx="3736809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관리자 콘솔 - 정산/마감 실적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1740" y="1463040"/>
            <a:ext cx="3628495" cy="11218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468" y="1572768"/>
            <a:ext cx="3411869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2026년 06월 정산 운송 마감 집계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468" y="1874520"/>
            <a:ext cx="3411869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4B5563"/>
                </a:solidFill>
                <a:latin typeface="Malgun Gothic"/>
              </a:defRPr>
            </a:pPr>
            <a:r>
              <a:t>• 총 운송 완료 건수: 240 회  |  • 총 누적 청구 운임: 36,000,000 원 (계산서 발행대기)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1740" y="2651759"/>
            <a:ext cx="3628495" cy="22437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73105" y="2743200"/>
            <a:ext cx="3520182" cy="188359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일자</a:t>
            </a:r>
            <a:r>
              <a:rPr dirty="0"/>
              <a:t>           </a:t>
            </a:r>
            <a:r>
              <a:rPr dirty="0" err="1"/>
              <a:t>티켓번호</a:t>
            </a:r>
            <a:r>
              <a:rPr dirty="0"/>
              <a:t>     </a:t>
            </a:r>
            <a:r>
              <a:rPr dirty="0" err="1"/>
              <a:t>차량번호</a:t>
            </a:r>
            <a:r>
              <a:rPr dirty="0"/>
              <a:t>     </a:t>
            </a:r>
            <a:r>
              <a:rPr dirty="0" err="1"/>
              <a:t>하차지</a:t>
            </a:r>
            <a:r>
              <a:rPr dirty="0"/>
              <a:t>           </a:t>
            </a:r>
            <a:r>
              <a:rPr dirty="0" err="1"/>
              <a:t>금액</a:t>
            </a:r>
            <a:r>
              <a:rPr dirty="0"/>
              <a:t>           </a:t>
            </a:r>
            <a:r>
              <a:rPr dirty="0" err="1"/>
              <a:t>마감상태</a:t>
            </a:r>
            <a:br>
              <a:rPr dirty="0"/>
            </a:br>
            <a:r>
              <a:rPr dirty="0"/>
              <a:t>2026.06.05     #1094        12가3456     </a:t>
            </a:r>
            <a:r>
              <a:rPr dirty="0" err="1"/>
              <a:t>영종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     150,000원     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2026.06.05     #1095        78나9012     </a:t>
            </a:r>
            <a:r>
              <a:rPr dirty="0" err="1"/>
              <a:t>영종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     150,000원     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2026.06.04     #1088        34다5678     </a:t>
            </a:r>
            <a:r>
              <a:rPr dirty="0" err="1"/>
              <a:t>영종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     150,000원     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2026.06.04     #1089        56라7890     </a:t>
            </a:r>
            <a:r>
              <a:rPr dirty="0" err="1"/>
              <a:t>영종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     150,000원     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2026.06.03     #1072        90마1234     </a:t>
            </a:r>
            <a:r>
              <a:rPr dirty="0" err="1"/>
              <a:t>영종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     150,000원     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576180" y="5195943"/>
            <a:ext cx="974820" cy="45895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6180" y="5269095"/>
            <a:ext cx="97482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정산 마감 확정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43579" y="5195943"/>
            <a:ext cx="1028976" cy="45895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3579" y="5269095"/>
            <a:ext cx="1028976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세금계산서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</a:t>
            </a:r>
            <a:r>
              <a:rPr dirty="0" err="1"/>
              <a:t>신청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997DB885-1589-5178-C820-8BAA009B2672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4310ED2-70B3-23A4-B92D-D2C0CE58DAE7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CAAA23-0AAB-9909-B1D6-33F730BB1E16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현장담당자</a:t>
            </a:r>
            <a:endParaRPr sz="8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현장 담당자 홈 (게이트 관제)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89320" cy="33252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현장에</a:t>
            </a:r>
            <a:r>
              <a:rPr dirty="0"/>
              <a:t> </a:t>
            </a:r>
            <a:r>
              <a:rPr dirty="0" err="1"/>
              <a:t>매핑된</a:t>
            </a:r>
            <a:r>
              <a:rPr dirty="0"/>
              <a:t>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직원이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대수</a:t>
            </a:r>
            <a:r>
              <a:rPr dirty="0"/>
              <a:t> 및 </a:t>
            </a:r>
            <a:r>
              <a:rPr dirty="0" err="1"/>
              <a:t>통계를</a:t>
            </a:r>
            <a:r>
              <a:rPr dirty="0"/>
              <a:t> </a:t>
            </a:r>
            <a:r>
              <a:rPr dirty="0" err="1"/>
              <a:t>조회하는</a:t>
            </a:r>
            <a:r>
              <a:rPr dirty="0"/>
              <a:t>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대시보드</a:t>
            </a:r>
            <a:br>
              <a:rPr dirty="0"/>
            </a:br>
            <a:r>
              <a:rPr dirty="0"/>
              <a:t>-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상태인</a:t>
            </a:r>
            <a:r>
              <a:rPr dirty="0"/>
              <a:t> </a:t>
            </a:r>
            <a:r>
              <a:rPr dirty="0" err="1"/>
              <a:t>덤프</a:t>
            </a:r>
            <a:r>
              <a:rPr dirty="0"/>
              <a:t> </a:t>
            </a:r>
            <a:r>
              <a:rPr dirty="0" err="1"/>
              <a:t>트럭의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큐(Queue) </a:t>
            </a:r>
            <a:r>
              <a:rPr dirty="0" err="1"/>
              <a:t>리스트</a:t>
            </a:r>
            <a:r>
              <a:rPr dirty="0"/>
              <a:t> </a:t>
            </a:r>
            <a:r>
              <a:rPr dirty="0" err="1"/>
              <a:t>모니터링</a:t>
            </a:r>
            <a:br>
              <a:rPr dirty="0"/>
            </a:br>
            <a:r>
              <a:rPr dirty="0"/>
              <a:t>-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체크인을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GPS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차량도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가능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출입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(3단 </a:t>
            </a:r>
            <a:r>
              <a:rPr dirty="0" err="1"/>
              <a:t>메트릭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):</a:t>
            </a:r>
            <a:br>
              <a:rPr dirty="0"/>
            </a:br>
            <a:r>
              <a:rPr dirty="0"/>
              <a:t>   - </a:t>
            </a:r>
            <a:r>
              <a:rPr dirty="0" err="1"/>
              <a:t>입차대기</a:t>
            </a:r>
            <a:r>
              <a:rPr dirty="0"/>
              <a:t>: 2대, </a:t>
            </a:r>
            <a:r>
              <a:rPr dirty="0" err="1"/>
              <a:t>상차중</a:t>
            </a:r>
            <a:r>
              <a:rPr dirty="0"/>
              <a:t>: 3대, </a:t>
            </a:r>
            <a:r>
              <a:rPr dirty="0" err="1"/>
              <a:t>상차완료</a:t>
            </a:r>
            <a:r>
              <a:rPr dirty="0"/>
              <a:t>: 18대 </a:t>
            </a:r>
            <a:r>
              <a:rPr dirty="0" err="1"/>
              <a:t>표시</a:t>
            </a:r>
            <a:br>
              <a:rPr dirty="0"/>
            </a:br>
            <a:r>
              <a:rPr dirty="0"/>
              <a:t>2.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큐:</a:t>
            </a:r>
            <a:br>
              <a:rPr dirty="0"/>
            </a:br>
            <a:r>
              <a:rPr dirty="0"/>
              <a:t>   -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번호판</a:t>
            </a:r>
            <a:r>
              <a:rPr dirty="0"/>
              <a:t>, </a:t>
            </a:r>
            <a:r>
              <a:rPr dirty="0" err="1"/>
              <a:t>기사명</a:t>
            </a:r>
            <a:r>
              <a:rPr dirty="0"/>
              <a:t>,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및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(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/</a:t>
            </a:r>
            <a:r>
              <a:rPr dirty="0" err="1"/>
              <a:t>수동</a:t>
            </a:r>
            <a:r>
              <a:rPr dirty="0"/>
              <a:t>) </a:t>
            </a:r>
            <a:r>
              <a:rPr dirty="0" err="1"/>
              <a:t>노출</a:t>
            </a:r>
            <a:br>
              <a:rPr dirty="0"/>
            </a:br>
            <a:r>
              <a:rPr dirty="0"/>
              <a:t>3. [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체크인</a:t>
            </a:r>
            <a:r>
              <a:rPr dirty="0"/>
              <a:t> / QR </a:t>
            </a:r>
            <a:r>
              <a:rPr dirty="0" err="1"/>
              <a:t>스캔</a:t>
            </a:r>
            <a:r>
              <a:rPr dirty="0"/>
              <a:t>] 퀵 </a:t>
            </a:r>
            <a:r>
              <a:rPr dirty="0" err="1"/>
              <a:t>버튼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하단에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노출하여</a:t>
            </a:r>
            <a:r>
              <a:rPr dirty="0"/>
              <a:t> </a:t>
            </a:r>
            <a:r>
              <a:rPr dirty="0" err="1"/>
              <a:t>신속한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</a:t>
            </a:r>
            <a:r>
              <a:rPr dirty="0" err="1"/>
              <a:t>지원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송도 1공구 - 게이트 관제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1127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1481328"/>
            <a:ext cx="112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입차대기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19072"/>
            <a:ext cx="1127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2 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417320"/>
            <a:ext cx="1127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1520" y="1481328"/>
            <a:ext cx="112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상차중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1719072"/>
            <a:ext cx="1127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Malgun Gothic"/>
              </a:defRPr>
            </a:pPr>
            <a:r>
              <a:t>3 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0720" y="1417320"/>
            <a:ext cx="1127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70720" y="1481328"/>
            <a:ext cx="112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상차완료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0720" y="1719072"/>
            <a:ext cx="1127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18 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860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실시간 진입 대기 트럭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560320"/>
            <a:ext cx="3566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265176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경기 80사 1234 (25톤)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94436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Malgun Gothic"/>
              </a:defRPr>
            </a:pPr>
            <a:r>
              <a:t>김덤프 기사  |  지오펜싱 입차 (5분 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651760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267004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대기중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383280"/>
            <a:ext cx="3566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47472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서울 80사 5678 (25톤)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6732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이배차 기사  |  수동 체크인 (방금 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474720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349300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대기중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수동 체크인 / QR 스캔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02. 입/출차 수동 통제 및 상차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67892" cy="38792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현장에</a:t>
            </a:r>
            <a:r>
              <a:rPr dirty="0"/>
              <a:t> </a:t>
            </a:r>
            <a:r>
              <a:rPr dirty="0" err="1"/>
              <a:t>도달한</a:t>
            </a:r>
            <a:r>
              <a:rPr dirty="0"/>
              <a:t> </a:t>
            </a:r>
            <a:r>
              <a:rPr dirty="0" err="1"/>
              <a:t>트럭의</a:t>
            </a:r>
            <a:r>
              <a:rPr dirty="0"/>
              <a:t>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개시</a:t>
            </a:r>
            <a:r>
              <a:rPr dirty="0"/>
              <a:t> 및 </a:t>
            </a:r>
            <a:r>
              <a:rPr dirty="0" err="1"/>
              <a:t>반출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수동으로</a:t>
            </a:r>
            <a:r>
              <a:rPr dirty="0"/>
              <a:t> </a:t>
            </a:r>
            <a:r>
              <a:rPr dirty="0" err="1"/>
              <a:t>승인하는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폼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토종</a:t>
            </a:r>
            <a:r>
              <a:rPr dirty="0"/>
              <a:t>(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속성</a:t>
            </a:r>
            <a:r>
              <a:rPr dirty="0"/>
              <a:t>) </a:t>
            </a:r>
            <a:r>
              <a:rPr dirty="0" err="1"/>
              <a:t>선택</a:t>
            </a:r>
            <a:r>
              <a:rPr dirty="0"/>
              <a:t> 및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지정을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운송장의</a:t>
            </a:r>
            <a:r>
              <a:rPr dirty="0"/>
              <a:t> </a:t>
            </a:r>
            <a:r>
              <a:rPr dirty="0" err="1"/>
              <a:t>무결성</a:t>
            </a:r>
            <a:r>
              <a:rPr dirty="0"/>
              <a:t> </a:t>
            </a:r>
            <a:r>
              <a:rPr dirty="0" err="1"/>
              <a:t>보장</a:t>
            </a:r>
            <a:br>
              <a:rPr dirty="0"/>
            </a:br>
            <a:r>
              <a:rPr dirty="0"/>
              <a:t>- [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] </a:t>
            </a:r>
            <a:r>
              <a:rPr dirty="0" err="1"/>
              <a:t>터치</a:t>
            </a:r>
            <a:r>
              <a:rPr dirty="0"/>
              <a:t> 시,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앱에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단가와</a:t>
            </a:r>
            <a:r>
              <a:rPr dirty="0"/>
              <a:t> GPS </a:t>
            </a:r>
            <a:r>
              <a:rPr dirty="0" err="1"/>
              <a:t>미터기</a:t>
            </a:r>
            <a:r>
              <a:rPr dirty="0"/>
              <a:t> </a:t>
            </a:r>
            <a:r>
              <a:rPr dirty="0" err="1"/>
              <a:t>주행이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작동됨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,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기사명</a:t>
            </a:r>
            <a:r>
              <a:rPr dirty="0"/>
              <a:t>, </a:t>
            </a:r>
            <a:r>
              <a:rPr dirty="0" err="1"/>
              <a:t>톤수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출력</a:t>
            </a:r>
            <a:br>
              <a:rPr dirty="0"/>
            </a:br>
            <a:r>
              <a:rPr dirty="0"/>
              <a:t>2. </a:t>
            </a:r>
            <a:r>
              <a:rPr dirty="0" err="1"/>
              <a:t>반출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속성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양질토</a:t>
            </a:r>
            <a:r>
              <a:rPr dirty="0"/>
              <a:t>(</a:t>
            </a:r>
            <a:r>
              <a:rPr dirty="0" err="1"/>
              <a:t>선택</a:t>
            </a:r>
            <a:r>
              <a:rPr dirty="0"/>
              <a:t>), </a:t>
            </a:r>
            <a:r>
              <a:rPr dirty="0" err="1"/>
              <a:t>뻘흙</a:t>
            </a:r>
            <a:r>
              <a:rPr dirty="0"/>
              <a:t>, </a:t>
            </a:r>
            <a:r>
              <a:rPr dirty="0" err="1"/>
              <a:t>암버럭</a:t>
            </a:r>
            <a:r>
              <a:rPr dirty="0"/>
              <a:t> 등 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단추</a:t>
            </a:r>
            <a:br>
              <a:rPr dirty="0"/>
            </a:br>
            <a:r>
              <a:rPr dirty="0"/>
              <a:t>3.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다수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시 </a:t>
            </a:r>
            <a:r>
              <a:rPr dirty="0" err="1"/>
              <a:t>적정한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드롭다운</a:t>
            </a:r>
            <a:br>
              <a:rPr dirty="0"/>
            </a:br>
            <a:r>
              <a:rPr dirty="0"/>
              <a:t>4. [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(</a:t>
            </a:r>
            <a:r>
              <a:rPr dirty="0" err="1"/>
              <a:t>출발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)] 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골드</a:t>
            </a:r>
            <a:r>
              <a:rPr dirty="0"/>
              <a:t>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버튼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상차 승인 통제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승인 대상 차량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3566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81051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경기 80사 1234 (25톤)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8483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소속: 대박운수  |  기사: 김덤프 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7432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반출 토사 종류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017520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309067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양질토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017520"/>
            <a:ext cx="10972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09067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뻘흙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3017520"/>
            <a:ext cx="10972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309067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암버럭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661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상차 통제 게이트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840480"/>
            <a:ext cx="347472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391363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제 1 상차 게이트 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상차 승인 (출발 처리)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03. 당일 반출 티켓(운송장)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36022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당일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게이트를</a:t>
            </a:r>
            <a:r>
              <a:rPr dirty="0"/>
              <a:t> </a:t>
            </a:r>
            <a:r>
              <a:rPr dirty="0" err="1"/>
              <a:t>통과하여</a:t>
            </a:r>
            <a:r>
              <a:rPr dirty="0"/>
              <a:t> </a:t>
            </a:r>
            <a:r>
              <a:rPr dirty="0" err="1"/>
              <a:t>출발한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운송</a:t>
            </a:r>
            <a:r>
              <a:rPr dirty="0"/>
              <a:t> </a:t>
            </a:r>
            <a:r>
              <a:rPr dirty="0" err="1"/>
              <a:t>전표의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추적하는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각 </a:t>
            </a:r>
            <a:r>
              <a:rPr dirty="0" err="1"/>
              <a:t>티켓의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(</a:t>
            </a:r>
            <a:r>
              <a:rPr dirty="0" err="1"/>
              <a:t>운행중</a:t>
            </a:r>
            <a:r>
              <a:rPr dirty="0"/>
              <a:t> / </a:t>
            </a:r>
            <a:r>
              <a:rPr dirty="0" err="1"/>
              <a:t>하차완료</a:t>
            </a:r>
            <a:r>
              <a:rPr dirty="0"/>
              <a:t> / </a:t>
            </a:r>
            <a:r>
              <a:rPr dirty="0" err="1"/>
              <a:t>회차거부</a:t>
            </a:r>
            <a:r>
              <a:rPr dirty="0"/>
              <a:t>)를 </a:t>
            </a:r>
            <a:r>
              <a:rPr dirty="0" err="1"/>
              <a:t>한눈에</a:t>
            </a:r>
            <a:r>
              <a:rPr dirty="0"/>
              <a:t> </a:t>
            </a:r>
            <a:r>
              <a:rPr dirty="0" err="1"/>
              <a:t>모니터링</a:t>
            </a:r>
            <a:br>
              <a:rPr dirty="0"/>
            </a:br>
            <a:r>
              <a:rPr dirty="0"/>
              <a:t>-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티켓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궤적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및 </a:t>
            </a:r>
            <a:r>
              <a:rPr dirty="0" err="1"/>
              <a:t>모바일</a:t>
            </a:r>
            <a:r>
              <a:rPr dirty="0"/>
              <a:t> </a:t>
            </a:r>
            <a:r>
              <a:rPr dirty="0" err="1"/>
              <a:t>영수증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열람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필터링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상차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및 </a:t>
            </a:r>
            <a:r>
              <a:rPr dirty="0" err="1"/>
              <a:t>차량번호</a:t>
            </a:r>
            <a:r>
              <a:rPr dirty="0"/>
              <a:t> </a:t>
            </a:r>
            <a:r>
              <a:rPr dirty="0" err="1"/>
              <a:t>간편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입력바</a:t>
            </a:r>
            <a:br>
              <a:rPr dirty="0"/>
            </a:br>
            <a:r>
              <a:rPr dirty="0"/>
              <a:t>2. </a:t>
            </a:r>
            <a:r>
              <a:rPr dirty="0" err="1"/>
              <a:t>티켓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고유</a:t>
            </a:r>
            <a:r>
              <a:rPr dirty="0"/>
              <a:t> </a:t>
            </a:r>
            <a:r>
              <a:rPr dirty="0" err="1"/>
              <a:t>전표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(#2045), </a:t>
            </a:r>
            <a:r>
              <a:rPr dirty="0" err="1"/>
              <a:t>차량번호</a:t>
            </a:r>
            <a:r>
              <a:rPr dirty="0"/>
              <a:t>, </a:t>
            </a:r>
            <a:r>
              <a:rPr dirty="0" err="1"/>
              <a:t>자재종류</a:t>
            </a:r>
            <a:r>
              <a:rPr dirty="0"/>
              <a:t>, </a:t>
            </a:r>
            <a:r>
              <a:rPr dirty="0" err="1"/>
              <a:t>상차완료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   -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색상</a:t>
            </a:r>
            <a:r>
              <a:rPr dirty="0"/>
              <a:t> </a:t>
            </a:r>
            <a:r>
              <a:rPr dirty="0" err="1"/>
              <a:t>뱃지</a:t>
            </a:r>
            <a:r>
              <a:rPr dirty="0"/>
              <a:t> </a:t>
            </a:r>
            <a:r>
              <a:rPr dirty="0" err="1"/>
              <a:t>구분</a:t>
            </a:r>
            <a:r>
              <a:rPr dirty="0"/>
              <a:t> (</a:t>
            </a:r>
            <a:r>
              <a:rPr dirty="0" err="1"/>
              <a:t>운행중</a:t>
            </a:r>
            <a:r>
              <a:rPr dirty="0"/>
              <a:t>: </a:t>
            </a:r>
            <a:r>
              <a:rPr dirty="0" err="1"/>
              <a:t>주황</a:t>
            </a:r>
            <a:r>
              <a:rPr dirty="0"/>
              <a:t>, </a:t>
            </a:r>
            <a:r>
              <a:rPr dirty="0" err="1"/>
              <a:t>하차완료</a:t>
            </a:r>
            <a:r>
              <a:rPr dirty="0"/>
              <a:t>: </a:t>
            </a:r>
            <a:r>
              <a:rPr dirty="0" err="1"/>
              <a:t>초록</a:t>
            </a:r>
            <a:r>
              <a:rPr dirty="0"/>
              <a:t>, </a:t>
            </a:r>
            <a:r>
              <a:rPr dirty="0" err="1"/>
              <a:t>회차거부</a:t>
            </a:r>
            <a:r>
              <a:rPr dirty="0"/>
              <a:t>: </a:t>
            </a:r>
            <a:r>
              <a:rPr dirty="0" err="1"/>
              <a:t>빨강</a:t>
            </a:r>
            <a:r>
              <a:rPr dirty="0"/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당일 반출 티켓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149047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차량번호 또는 기사명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96596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205740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티켓 #2045  |  경기 80사 1234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37744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김덤프 기사  |  양질토  |  15:42 상차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057400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20" y="207568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운행중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3464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292608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티켓 #2044  |  서울 80사 5678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4612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이배차 기사  |  양질토  |  15:30 상차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926080"/>
            <a:ext cx="9144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294436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하차완료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70332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379476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티켓 #2043  |  인천 80사 9012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11480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박사토 기사  |  뻘흙    |  15:10 상차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3794760"/>
            <a:ext cx="91440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381304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회차(거부)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213BF67-CD25-4243-F5B7-24E760B97C44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C86142A-F156-DFEE-AF90-988EE135BC25}"/>
              </a:ext>
            </a:extLst>
          </p:cNvPr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E3533-0B9B-8264-26FF-878C521A710C}"/>
              </a:ext>
            </a:extLst>
          </p:cNvPr>
          <p:cNvSpPr txBox="1"/>
          <p:nvPr/>
        </p:nvSpPr>
        <p:spPr>
          <a:xfrm>
            <a:off x="1828800" y="2413301"/>
            <a:ext cx="8686800" cy="139115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sz="8800" dirty="0"/>
              <a:t>하차지</a:t>
            </a:r>
            <a:endParaRPr sz="8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하차지 홈 (사토장 대시보드)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23068" cy="33252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사토장의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한도</a:t>
            </a:r>
            <a:r>
              <a:rPr dirty="0"/>
              <a:t> 및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매립</a:t>
            </a:r>
            <a:r>
              <a:rPr dirty="0"/>
              <a:t> </a:t>
            </a:r>
            <a:r>
              <a:rPr dirty="0" err="1"/>
              <a:t>잔여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대시보드</a:t>
            </a:r>
            <a:br>
              <a:rPr dirty="0"/>
            </a:br>
            <a:r>
              <a:rPr dirty="0"/>
              <a:t>- </a:t>
            </a: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수 및 </a:t>
            </a:r>
            <a:r>
              <a:rPr dirty="0" err="1"/>
              <a:t>당월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정산금액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모니터링</a:t>
            </a:r>
            <a:br>
              <a:rPr dirty="0"/>
            </a:br>
            <a:r>
              <a:rPr dirty="0"/>
              <a:t>- </a:t>
            </a:r>
            <a:r>
              <a:rPr dirty="0" err="1"/>
              <a:t>지오펜싱</a:t>
            </a:r>
            <a:r>
              <a:rPr dirty="0"/>
              <a:t>(200m </a:t>
            </a:r>
            <a:r>
              <a:rPr dirty="0" err="1"/>
              <a:t>이내</a:t>
            </a:r>
            <a:r>
              <a:rPr dirty="0"/>
              <a:t>)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신호가</a:t>
            </a:r>
            <a:r>
              <a:rPr dirty="0"/>
              <a:t> </a:t>
            </a:r>
            <a:r>
              <a:rPr dirty="0" err="1"/>
              <a:t>감지된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한도</a:t>
            </a:r>
            <a:r>
              <a:rPr dirty="0"/>
              <a:t> </a:t>
            </a:r>
            <a:r>
              <a:rPr dirty="0" err="1"/>
              <a:t>게이지</a:t>
            </a:r>
            <a:r>
              <a:rPr dirty="0"/>
              <a:t>:</a:t>
            </a:r>
            <a:br>
              <a:rPr dirty="0"/>
            </a:br>
            <a:r>
              <a:rPr dirty="0"/>
              <a:t>   - '6,500㎥ </a:t>
            </a:r>
            <a:r>
              <a:rPr dirty="0" err="1"/>
              <a:t>수용</a:t>
            </a:r>
            <a:r>
              <a:rPr dirty="0"/>
              <a:t> 중 / 총 10,000㎥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한도</a:t>
            </a:r>
            <a:r>
              <a:rPr dirty="0"/>
              <a:t>' </a:t>
            </a:r>
            <a:r>
              <a:rPr dirty="0" err="1"/>
              <a:t>가로</a:t>
            </a:r>
            <a:r>
              <a:rPr dirty="0"/>
              <a:t> </a:t>
            </a:r>
            <a:r>
              <a:rPr dirty="0" err="1"/>
              <a:t>프로그레스</a:t>
            </a:r>
            <a:r>
              <a:rPr dirty="0"/>
              <a:t> 바</a:t>
            </a:r>
            <a:br>
              <a:rPr dirty="0"/>
            </a:br>
            <a:r>
              <a:rPr dirty="0"/>
              <a:t>2. </a:t>
            </a: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현황판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15대,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정산금</a:t>
            </a:r>
            <a:r>
              <a:rPr dirty="0"/>
              <a:t>: 2,250,000원</a:t>
            </a:r>
            <a:br>
              <a:rPr dirty="0"/>
            </a:br>
            <a:r>
              <a:rPr dirty="0"/>
              <a:t>3.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관제</a:t>
            </a:r>
            <a:r>
              <a:rPr dirty="0"/>
              <a:t> (GPS </a:t>
            </a:r>
            <a:r>
              <a:rPr dirty="0" err="1"/>
              <a:t>지오펜싱</a:t>
            </a:r>
            <a:r>
              <a:rPr dirty="0"/>
              <a:t>):</a:t>
            </a:r>
            <a:br>
              <a:rPr dirty="0"/>
            </a:br>
            <a:r>
              <a:rPr dirty="0"/>
              <a:t>   -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인근</a:t>
            </a:r>
            <a:r>
              <a:rPr dirty="0"/>
              <a:t> 200m </a:t>
            </a:r>
            <a:r>
              <a:rPr dirty="0" err="1"/>
              <a:t>이내로</a:t>
            </a:r>
            <a:r>
              <a:rPr dirty="0"/>
              <a:t> </a:t>
            </a:r>
            <a:r>
              <a:rPr dirty="0" err="1"/>
              <a:t>도달한</a:t>
            </a:r>
            <a:r>
              <a:rPr dirty="0"/>
              <a:t> </a:t>
            </a:r>
            <a:r>
              <a:rPr dirty="0" err="1"/>
              <a:t>트럭의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리스트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하차지 대시보드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48132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사토장 잔여 수용량 (65%)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783080"/>
            <a:ext cx="329184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9480" y="1783080"/>
            <a:ext cx="2139696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201168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6,500㎥ 반입 완료 / 총 10,000㎥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560320"/>
            <a:ext cx="3566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265176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금일 반입 대수:  15 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97180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금일 수금/정산액: 2,250,000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4747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실시간 진입 차량 (200m 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74904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822192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경기 80사 1234 (김덤프 기사)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09651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Malgun Gothic"/>
              </a:defRPr>
            </a:pPr>
            <a:r>
              <a:t>양질토  |  진입 완료 (50m 전)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5262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4599432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서울 80사 5678 (이배차 기사)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87375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양질토  |  접근 중 (150m 전)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및 </a:t>
            </a:r>
            <a:r>
              <a:rPr dirty="0" err="1"/>
              <a:t>단가</a:t>
            </a:r>
            <a:r>
              <a:rPr dirty="0"/>
              <a:t> </a:t>
            </a:r>
            <a:r>
              <a:rPr dirty="0" err="1"/>
              <a:t>등록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19" y="1645920"/>
            <a:ext cx="5785821" cy="38792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사토장을</a:t>
            </a:r>
            <a:r>
              <a:rPr dirty="0"/>
              <a:t> </a:t>
            </a:r>
            <a:r>
              <a:rPr dirty="0" err="1"/>
              <a:t>시스템에</a:t>
            </a:r>
            <a:r>
              <a:rPr dirty="0"/>
              <a:t> </a:t>
            </a:r>
            <a:r>
              <a:rPr dirty="0" err="1"/>
              <a:t>설정하고</a:t>
            </a:r>
            <a:r>
              <a:rPr dirty="0"/>
              <a:t>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정책을</a:t>
            </a:r>
            <a:r>
              <a:rPr dirty="0"/>
              <a:t> </a:t>
            </a:r>
            <a:r>
              <a:rPr dirty="0" err="1"/>
              <a:t>게시하여</a:t>
            </a:r>
            <a:r>
              <a:rPr dirty="0"/>
              <a:t> </a:t>
            </a:r>
            <a:r>
              <a:rPr dirty="0" err="1"/>
              <a:t>매칭을</a:t>
            </a:r>
            <a:r>
              <a:rPr dirty="0"/>
              <a:t> </a:t>
            </a:r>
            <a:r>
              <a:rPr dirty="0" err="1"/>
              <a:t>트리거하는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감지를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좌표</a:t>
            </a:r>
            <a:r>
              <a:rPr dirty="0"/>
              <a:t> </a:t>
            </a:r>
            <a:r>
              <a:rPr dirty="0" err="1"/>
              <a:t>좌표</a:t>
            </a:r>
            <a:r>
              <a:rPr dirty="0"/>
              <a:t> </a:t>
            </a:r>
            <a:r>
              <a:rPr dirty="0" err="1"/>
              <a:t>매핑</a:t>
            </a:r>
            <a:br>
              <a:rPr dirty="0"/>
            </a:br>
            <a:r>
              <a:rPr dirty="0"/>
              <a:t>-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토종</a:t>
            </a:r>
            <a:r>
              <a:rPr dirty="0"/>
              <a:t> </a:t>
            </a:r>
            <a:r>
              <a:rPr dirty="0" err="1"/>
              <a:t>성질</a:t>
            </a:r>
            <a:r>
              <a:rPr dirty="0"/>
              <a:t>(</a:t>
            </a:r>
            <a:r>
              <a:rPr dirty="0" err="1"/>
              <a:t>양질토</a:t>
            </a:r>
            <a:r>
              <a:rPr dirty="0"/>
              <a:t>/</a:t>
            </a:r>
            <a:r>
              <a:rPr dirty="0" err="1"/>
              <a:t>뻘흙</a:t>
            </a:r>
            <a:r>
              <a:rPr dirty="0"/>
              <a:t>/</a:t>
            </a:r>
            <a:r>
              <a:rPr dirty="0" err="1"/>
              <a:t>암버럭</a:t>
            </a:r>
            <a:r>
              <a:rPr dirty="0"/>
              <a:t>) 및 </a:t>
            </a:r>
            <a:r>
              <a:rPr dirty="0" err="1"/>
              <a:t>회당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기입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명칭</a:t>
            </a:r>
            <a:r>
              <a:rPr dirty="0"/>
              <a:t> 및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:</a:t>
            </a:r>
            <a:br>
              <a:rPr dirty="0"/>
            </a:br>
            <a:r>
              <a:rPr dirty="0"/>
              <a:t>   - '</a:t>
            </a:r>
            <a:r>
              <a:rPr dirty="0" err="1"/>
              <a:t>영종도</a:t>
            </a:r>
            <a:r>
              <a:rPr dirty="0"/>
              <a:t> </a:t>
            </a:r>
            <a:r>
              <a:rPr dirty="0" err="1"/>
              <a:t>남단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매립지</a:t>
            </a:r>
            <a:r>
              <a:rPr dirty="0"/>
              <a:t>' 등 </a:t>
            </a:r>
            <a:r>
              <a:rPr dirty="0" err="1"/>
              <a:t>행정</a:t>
            </a:r>
            <a:r>
              <a:rPr dirty="0"/>
              <a:t> </a:t>
            </a:r>
            <a:r>
              <a:rPr dirty="0" err="1"/>
              <a:t>명칭</a:t>
            </a:r>
            <a:r>
              <a:rPr dirty="0"/>
              <a:t> 및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필드</a:t>
            </a:r>
            <a:br>
              <a:rPr dirty="0"/>
            </a:br>
            <a:r>
              <a:rPr dirty="0"/>
              <a:t>2.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바:</a:t>
            </a:r>
            <a:br>
              <a:rPr dirty="0"/>
            </a:br>
            <a:r>
              <a:rPr dirty="0"/>
              <a:t>   -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체크를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200m </a:t>
            </a:r>
            <a:r>
              <a:rPr dirty="0" err="1"/>
              <a:t>세팅</a:t>
            </a:r>
            <a:br>
              <a:rPr dirty="0"/>
            </a:br>
            <a:r>
              <a:rPr dirty="0"/>
              <a:t>3.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양질토</a:t>
            </a:r>
            <a:r>
              <a:rPr dirty="0"/>
              <a:t>(</a:t>
            </a:r>
            <a:r>
              <a:rPr dirty="0" err="1"/>
              <a:t>수용</a:t>
            </a:r>
            <a:r>
              <a:rPr dirty="0"/>
              <a:t>), </a:t>
            </a:r>
            <a:r>
              <a:rPr dirty="0" err="1"/>
              <a:t>뻘흙</a:t>
            </a:r>
            <a:r>
              <a:rPr dirty="0"/>
              <a:t>(</a:t>
            </a:r>
            <a:r>
              <a:rPr dirty="0" err="1"/>
              <a:t>반려</a:t>
            </a:r>
            <a:r>
              <a:rPr dirty="0"/>
              <a:t>), </a:t>
            </a:r>
            <a:r>
              <a:rPr dirty="0" err="1"/>
              <a:t>암버럭</a:t>
            </a:r>
            <a:r>
              <a:rPr dirty="0"/>
              <a:t>(</a:t>
            </a:r>
            <a:r>
              <a:rPr dirty="0" err="1"/>
              <a:t>수용</a:t>
            </a:r>
            <a:r>
              <a:rPr dirty="0"/>
              <a:t>) 등 </a:t>
            </a:r>
            <a:r>
              <a:rPr dirty="0" err="1"/>
              <a:t>자재</a:t>
            </a:r>
            <a:r>
              <a:rPr dirty="0"/>
              <a:t> </a:t>
            </a:r>
            <a:r>
              <a:rPr dirty="0" err="1"/>
              <a:t>제한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선택</a:t>
            </a:r>
            <a:br>
              <a:rPr dirty="0"/>
            </a:br>
            <a:r>
              <a:rPr dirty="0"/>
              <a:t>4. </a:t>
            </a:r>
            <a:r>
              <a:rPr dirty="0" err="1"/>
              <a:t>단가</a:t>
            </a:r>
            <a:r>
              <a:rPr dirty="0"/>
              <a:t> 및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회당</a:t>
            </a:r>
            <a:r>
              <a:rPr dirty="0"/>
              <a:t> 150,000원 </a:t>
            </a:r>
            <a:r>
              <a:rPr dirty="0" err="1"/>
              <a:t>수금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필드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사토장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사토장 주소지 및 명칭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34747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76479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인천시 중구 영종남로 11-1 (영종 사토장)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945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수용 가능 자재 필터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468880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54203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양질토 수용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468880"/>
            <a:ext cx="1097280" cy="3657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54203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뻘흙 제한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468880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54203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암버럭 수용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9718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반입 비용 수금 정책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246120"/>
            <a:ext cx="34747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331927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회당 단가 수금:  150,000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9476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하차지 인식 지오펜싱 반경: 200m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4114800"/>
            <a:ext cx="3474720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66760" y="4023360"/>
            <a:ext cx="2286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78040" y="5577840"/>
            <a:ext cx="3474720" cy="5486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571500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수용 공고 설정 및 배포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및 </a:t>
            </a:r>
            <a:r>
              <a:rPr dirty="0" err="1"/>
              <a:t>토질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통제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749962" cy="36022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하차지에</a:t>
            </a:r>
            <a:r>
              <a:rPr dirty="0"/>
              <a:t> </a:t>
            </a:r>
            <a:r>
              <a:rPr dirty="0" err="1"/>
              <a:t>도달하여</a:t>
            </a:r>
            <a:r>
              <a:rPr dirty="0"/>
              <a:t> </a:t>
            </a:r>
            <a:r>
              <a:rPr dirty="0" err="1"/>
              <a:t>반입을</a:t>
            </a:r>
            <a:r>
              <a:rPr dirty="0"/>
              <a:t> </a:t>
            </a:r>
            <a:r>
              <a:rPr dirty="0" err="1"/>
              <a:t>기다리는</a:t>
            </a:r>
            <a:r>
              <a:rPr dirty="0"/>
              <a:t>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차량의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회차를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</a:t>
            </a:r>
            <a:r>
              <a:rPr dirty="0" err="1"/>
              <a:t>불량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(</a:t>
            </a:r>
            <a:r>
              <a:rPr dirty="0" err="1"/>
              <a:t>뻘흙</a:t>
            </a:r>
            <a:r>
              <a:rPr dirty="0"/>
              <a:t> 등) </a:t>
            </a:r>
            <a:r>
              <a:rPr dirty="0" err="1"/>
              <a:t>반입을</a:t>
            </a:r>
            <a:r>
              <a:rPr dirty="0"/>
              <a:t> </a:t>
            </a:r>
            <a:r>
              <a:rPr dirty="0" err="1"/>
              <a:t>필터링하기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육안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장치</a:t>
            </a:r>
            <a:br>
              <a:rPr dirty="0"/>
            </a:br>
            <a:r>
              <a:rPr dirty="0"/>
              <a:t>- </a:t>
            </a:r>
            <a:r>
              <a:rPr dirty="0" err="1"/>
              <a:t>반려</a:t>
            </a:r>
            <a:r>
              <a:rPr dirty="0"/>
              <a:t>/</a:t>
            </a:r>
            <a:r>
              <a:rPr dirty="0" err="1"/>
              <a:t>거부</a:t>
            </a:r>
            <a:r>
              <a:rPr dirty="0"/>
              <a:t> 시 </a:t>
            </a:r>
            <a:r>
              <a:rPr dirty="0" err="1"/>
              <a:t>회차증</a:t>
            </a:r>
            <a:r>
              <a:rPr dirty="0"/>
              <a:t> </a:t>
            </a:r>
            <a:r>
              <a:rPr dirty="0" err="1"/>
              <a:t>발급을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즉각적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차량번호</a:t>
            </a:r>
            <a:r>
              <a:rPr dirty="0"/>
              <a:t>, </a:t>
            </a:r>
            <a:r>
              <a:rPr dirty="0" err="1"/>
              <a:t>운송장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및 </a:t>
            </a:r>
            <a:r>
              <a:rPr dirty="0" err="1"/>
              <a:t>적재하고</a:t>
            </a:r>
            <a:r>
              <a:rPr dirty="0"/>
              <a:t> 온 </a:t>
            </a:r>
            <a:r>
              <a:rPr dirty="0" err="1"/>
              <a:t>선언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명시</a:t>
            </a:r>
            <a:br>
              <a:rPr dirty="0"/>
            </a:br>
            <a:r>
              <a:rPr dirty="0"/>
              <a:t>2. </a:t>
            </a:r>
            <a:r>
              <a:rPr dirty="0" err="1"/>
              <a:t>육안</a:t>
            </a:r>
            <a:r>
              <a:rPr dirty="0"/>
              <a:t> </a:t>
            </a:r>
            <a:r>
              <a:rPr dirty="0" err="1"/>
              <a:t>토질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체크리스트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양질토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및 </a:t>
            </a:r>
            <a:r>
              <a:rPr dirty="0" err="1"/>
              <a:t>혼입물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체크</a:t>
            </a:r>
            <a:r>
              <a:rPr dirty="0"/>
              <a:t> </a:t>
            </a:r>
            <a:r>
              <a:rPr dirty="0" err="1"/>
              <a:t>토글</a:t>
            </a:r>
            <a:br>
              <a:rPr dirty="0"/>
            </a:br>
            <a:r>
              <a:rPr dirty="0"/>
              <a:t>3.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세트</a:t>
            </a:r>
            <a:r>
              <a:rPr dirty="0"/>
              <a:t>:</a:t>
            </a:r>
            <a:br>
              <a:rPr dirty="0"/>
            </a:br>
            <a:r>
              <a:rPr dirty="0"/>
              <a:t>   - [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] </a:t>
            </a:r>
            <a:r>
              <a:rPr dirty="0" err="1"/>
              <a:t>녹색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(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트리거</a:t>
            </a:r>
            <a:r>
              <a:rPr dirty="0"/>
              <a:t>)</a:t>
            </a:r>
            <a:br>
              <a:rPr dirty="0"/>
            </a:br>
            <a:r>
              <a:rPr dirty="0"/>
              <a:t>   - [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거부</a:t>
            </a:r>
            <a:r>
              <a:rPr dirty="0"/>
              <a:t> 및 </a:t>
            </a:r>
            <a:r>
              <a:rPr dirty="0" err="1"/>
              <a:t>회차</a:t>
            </a:r>
            <a:r>
              <a:rPr dirty="0"/>
              <a:t>] </a:t>
            </a:r>
            <a:r>
              <a:rPr dirty="0" err="1"/>
              <a:t>적색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(</a:t>
            </a:r>
            <a:r>
              <a:rPr dirty="0" err="1"/>
              <a:t>분쟁</a:t>
            </a:r>
            <a:r>
              <a:rPr dirty="0"/>
              <a:t> </a:t>
            </a:r>
            <a:r>
              <a:rPr dirty="0" err="1"/>
              <a:t>중재</a:t>
            </a:r>
            <a:r>
              <a:rPr dirty="0"/>
              <a:t> </a:t>
            </a:r>
            <a:r>
              <a:rPr dirty="0" err="1"/>
              <a:t>접수</a:t>
            </a:r>
            <a:r>
              <a:rPr dirty="0"/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반입 승인 통제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46304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진입 차량 상세 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810512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경기 80사 1234 (25톤)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84832"/>
            <a:ext cx="32918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상차지: 송도 1공구 아파트 현장</a:t>
            </a:r>
            <a:br/>
            <a:r>
              <a:t>• 자재 속성: 양질토 선언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7432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현장 육안 검토 사항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017520"/>
            <a:ext cx="3566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108960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☑ 토질 적합 검토 (양질토 확인)</a:t>
            </a:r>
            <a:br/>
            <a:r>
              <a:t>☑ 환경 오염 유발 혼합 토사 없음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931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반려 및 회차 시 증빙 자료 첨부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28016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52628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[사진 촬영/첨부]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539496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550468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최종 반입 승인 (정산 완료)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5943600"/>
            <a:ext cx="34747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605332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반입 거부 및 회차 지시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04. 하차지 정산 마감 및 세금 거래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36022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br>
              <a:rPr dirty="0"/>
            </a:br>
            <a:r>
              <a:rPr dirty="0"/>
              <a:t>- </a:t>
            </a:r>
            <a:r>
              <a:rPr dirty="0" err="1"/>
              <a:t>하차지에서</a:t>
            </a:r>
            <a:r>
              <a:rPr dirty="0"/>
              <a:t>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수입</a:t>
            </a:r>
            <a:r>
              <a:rPr dirty="0"/>
              <a:t>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전표에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월별</a:t>
            </a:r>
            <a:r>
              <a:rPr dirty="0"/>
              <a:t> </a:t>
            </a:r>
            <a:r>
              <a:rPr dirty="0" err="1"/>
              <a:t>마감</a:t>
            </a:r>
            <a:r>
              <a:rPr dirty="0"/>
              <a:t> 및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대장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- 총 </a:t>
            </a:r>
            <a:r>
              <a:rPr dirty="0" err="1"/>
              <a:t>수금</a:t>
            </a:r>
            <a:r>
              <a:rPr dirty="0"/>
              <a:t>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단가</a:t>
            </a:r>
            <a:r>
              <a:rPr dirty="0"/>
              <a:t> </a:t>
            </a:r>
            <a:r>
              <a:rPr dirty="0" err="1"/>
              <a:t>합산</a:t>
            </a:r>
            <a:r>
              <a:rPr dirty="0"/>
              <a:t> 및 </a:t>
            </a:r>
            <a:r>
              <a:rPr dirty="0" err="1"/>
              <a:t>수수료</a:t>
            </a:r>
            <a:r>
              <a:rPr dirty="0"/>
              <a:t> </a:t>
            </a:r>
            <a:r>
              <a:rPr dirty="0" err="1"/>
              <a:t>명세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디스플레이</a:t>
            </a:r>
            <a:br>
              <a:rPr dirty="0"/>
            </a:br>
            <a:r>
              <a:rPr dirty="0"/>
              <a:t>- </a:t>
            </a:r>
            <a:r>
              <a:rPr dirty="0" err="1"/>
              <a:t>엑셀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운송장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및 </a:t>
            </a:r>
            <a:r>
              <a:rPr dirty="0" err="1"/>
              <a:t>국세청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세금계산서</a:t>
            </a:r>
            <a:r>
              <a:rPr dirty="0"/>
              <a:t> </a:t>
            </a:r>
            <a:r>
              <a:rPr dirty="0" err="1"/>
              <a:t>청구</a:t>
            </a:r>
            <a:r>
              <a:rPr dirty="0"/>
              <a:t> </a:t>
            </a:r>
            <a:r>
              <a:rPr dirty="0" err="1"/>
              <a:t>지원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UI </a:t>
            </a:r>
            <a:r>
              <a:rPr dirty="0" err="1"/>
              <a:t>구성</a:t>
            </a:r>
            <a:br>
              <a:rPr dirty="0"/>
            </a:br>
            <a:r>
              <a:rPr dirty="0"/>
              <a:t>1. 6월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:</a:t>
            </a:r>
            <a:br>
              <a:rPr dirty="0"/>
            </a:br>
            <a:r>
              <a:rPr dirty="0"/>
              <a:t>   - 총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건수</a:t>
            </a:r>
            <a:r>
              <a:rPr dirty="0"/>
              <a:t>: 240회, 총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금액</a:t>
            </a:r>
            <a:r>
              <a:rPr dirty="0"/>
              <a:t>: 36,000,000원</a:t>
            </a:r>
            <a:br>
              <a:rPr dirty="0"/>
            </a:br>
            <a:r>
              <a:rPr dirty="0"/>
              <a:t>2. </a:t>
            </a:r>
            <a:r>
              <a:rPr dirty="0" err="1"/>
              <a:t>일별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그리드</a:t>
            </a:r>
            <a:r>
              <a:rPr dirty="0"/>
              <a:t>:</a:t>
            </a:r>
            <a:br>
              <a:rPr dirty="0"/>
            </a:br>
            <a:r>
              <a:rPr dirty="0"/>
              <a:t>   - </a:t>
            </a:r>
            <a:r>
              <a:rPr dirty="0" err="1"/>
              <a:t>날짜별</a:t>
            </a:r>
            <a:r>
              <a:rPr dirty="0"/>
              <a:t> </a:t>
            </a:r>
            <a:r>
              <a:rPr dirty="0" err="1"/>
              <a:t>입차</a:t>
            </a:r>
            <a:r>
              <a:rPr dirty="0"/>
              <a:t> </a:t>
            </a:r>
            <a:r>
              <a:rPr dirty="0" err="1"/>
              <a:t>성공</a:t>
            </a:r>
            <a:r>
              <a:rPr dirty="0"/>
              <a:t> </a:t>
            </a:r>
            <a:r>
              <a:rPr dirty="0" err="1"/>
              <a:t>대수</a:t>
            </a:r>
            <a:r>
              <a:rPr dirty="0"/>
              <a:t> 및 </a:t>
            </a:r>
            <a:r>
              <a:rPr dirty="0" err="1"/>
              <a:t>일일</a:t>
            </a:r>
            <a:r>
              <a:rPr dirty="0"/>
              <a:t> </a:t>
            </a:r>
            <a:r>
              <a:rPr dirty="0" err="1"/>
              <a:t>누계</a:t>
            </a:r>
            <a:r>
              <a:rPr dirty="0"/>
              <a:t> </a:t>
            </a:r>
            <a:r>
              <a:rPr dirty="0" err="1"/>
              <a:t>정산액</a:t>
            </a:r>
            <a:r>
              <a:rPr dirty="0"/>
              <a:t> </a:t>
            </a:r>
            <a:r>
              <a:rPr dirty="0" err="1"/>
              <a:t>일람</a:t>
            </a:r>
            <a:r>
              <a:rPr dirty="0"/>
              <a:t> </a:t>
            </a:r>
            <a:r>
              <a:rPr dirty="0" err="1"/>
              <a:t>피드</a:t>
            </a:r>
            <a:br>
              <a:rPr dirty="0"/>
            </a:br>
            <a:r>
              <a:rPr dirty="0"/>
              <a:t>3.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</a:t>
            </a:r>
            <a:r>
              <a:rPr dirty="0" err="1"/>
              <a:t>액션</a:t>
            </a:r>
            <a:r>
              <a:rPr dirty="0"/>
              <a:t> </a:t>
            </a:r>
            <a:r>
              <a:rPr dirty="0" err="1"/>
              <a:t>단추</a:t>
            </a:r>
            <a:r>
              <a:rPr dirty="0"/>
              <a:t>:</a:t>
            </a:r>
            <a:br>
              <a:rPr dirty="0"/>
            </a:br>
            <a:r>
              <a:rPr dirty="0"/>
              <a:t>   - [</a:t>
            </a:r>
            <a:r>
              <a:rPr dirty="0" err="1"/>
              <a:t>정산서</a:t>
            </a:r>
            <a:r>
              <a:rPr dirty="0"/>
              <a:t> Excel </a:t>
            </a:r>
            <a:r>
              <a:rPr dirty="0" err="1"/>
              <a:t>다운로드</a:t>
            </a:r>
            <a:r>
              <a:rPr dirty="0"/>
              <a:t>] </a:t>
            </a:r>
            <a:r>
              <a:rPr dirty="0" err="1"/>
              <a:t>차콜</a:t>
            </a:r>
            <a:r>
              <a:rPr dirty="0"/>
              <a:t> </a:t>
            </a:r>
            <a:r>
              <a:rPr dirty="0" err="1"/>
              <a:t>단추</a:t>
            </a:r>
            <a:br>
              <a:rPr dirty="0"/>
            </a:br>
            <a:r>
              <a:rPr dirty="0"/>
              <a:t>   - [</a:t>
            </a:r>
            <a:r>
              <a:rPr dirty="0" err="1"/>
              <a:t>세금계산서</a:t>
            </a:r>
            <a:r>
              <a:rPr dirty="0"/>
              <a:t> </a:t>
            </a:r>
            <a:r>
              <a:rPr dirty="0" err="1"/>
              <a:t>청구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] </a:t>
            </a:r>
            <a:r>
              <a:rPr dirty="0" err="1"/>
              <a:t>녹색</a:t>
            </a:r>
            <a:r>
              <a:rPr dirty="0"/>
              <a:t> </a:t>
            </a:r>
            <a:r>
              <a:rPr dirty="0" err="1"/>
              <a:t>버튼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F9F8F6"/>
          </a:solidFill>
          <a:ln w="381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822960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822960"/>
            <a:ext cx="3840480" cy="457200"/>
          </a:xfrm>
          <a:prstGeom prst="rect">
            <a:avLst/>
          </a:prstGeom>
          <a:solidFill>
            <a:srgbClr val="F9F8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932688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하차지 마감 정산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481328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2026년 6월 반입 마감 명세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783080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• 총 반입 완료 횟수:  240 회</a:t>
            </a:r>
            <a:br/>
            <a:r>
              <a:t>• 누적 수금/정산액: 36,000,000 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463040"/>
            <a:ext cx="10058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0" y="1499616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정산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74320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일별 반입 통계 리스트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017520"/>
            <a:ext cx="3566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3127248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06월 05일  |  반입 15회  |  2,250,000원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657600"/>
            <a:ext cx="3566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3767328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06월 04일  |  반입 20회  |  3,000,000원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297680"/>
            <a:ext cx="3566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4407408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Malgun Gothic"/>
              </a:defRPr>
            </a:pPr>
            <a:r>
              <a:t>06월 03일  |  반입 18회  |  2,700,000원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5212080"/>
            <a:ext cx="3474720" cy="4572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532180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정산서 Excel 파일 발송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576072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587044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세금계산서 발행 완료 요청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6197</Words>
  <Application>Microsoft Office PowerPoint</Application>
  <PresentationFormat>사용자 지정</PresentationFormat>
  <Paragraphs>443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uhong ryu</cp:lastModifiedBy>
  <cp:revision>4</cp:revision>
  <dcterms:created xsi:type="dcterms:W3CDTF">2013-01-27T09:14:16Z</dcterms:created>
  <dcterms:modified xsi:type="dcterms:W3CDTF">2026-06-05T13:46:59Z</dcterms:modified>
  <cp:category/>
</cp:coreProperties>
</file>