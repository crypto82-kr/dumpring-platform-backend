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68" r:id="rId3"/>
    <p:sldId id="269" r:id="rId4"/>
    <p:sldId id="270" r:id="rId5"/>
    <p:sldId id="265" r:id="rId6"/>
    <p:sldId id="257" r:id="rId7"/>
    <p:sldId id="266" r:id="rId8"/>
    <p:sldId id="267" r:id="rId9"/>
    <p:sldId id="256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71" r:id="rId18"/>
    <p:sldId id="272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78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1371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920240"/>
            <a:ext cx="9448800" cy="71404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44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덤프링</a:t>
            </a:r>
            <a:r>
              <a:rPr lang="en-US" dirty="0"/>
              <a:t> </a:t>
            </a:r>
            <a:r>
              <a:rPr lang="ko-KR" altLang="en-US" dirty="0"/>
              <a:t>관리자 시스템</a:t>
            </a:r>
            <a:r>
              <a:rPr dirty="0"/>
              <a:t> (</a:t>
            </a:r>
            <a:r>
              <a:rPr dirty="0" err="1"/>
              <a:t>Dumpring</a:t>
            </a:r>
            <a:r>
              <a:rPr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68680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800" b="1">
                <a:solidFill>
                  <a:srgbClr val="4B5563"/>
                </a:solidFill>
                <a:latin typeface="Malgun Gothic"/>
              </a:defRPr>
            </a:pPr>
            <a:r>
              <a:rPr lang="en-US" altLang="ko-KR" dirty="0"/>
              <a:t>UI/UX</a:t>
            </a:r>
            <a:r>
              <a:rPr lang="ko-KR" altLang="en-US" dirty="0"/>
              <a:t> 설계서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548640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</a:defRPr>
            </a:pPr>
            <a:r>
              <a:t>작성일: 2026. 06. 05</a:t>
            </a:r>
            <a:br/>
            <a:r>
              <a:t>작성자: 덤프링 플랫폼 기획팀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DUMPRING PLATFORM ADMIN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Malgun Gothic"/>
              </a:defRPr>
            </a:pPr>
            <a:r>
              <a:rPr lang="ko-KR" altLang="en-US" dirty="0"/>
              <a:t>회원관리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</a:defRPr>
            </a:pPr>
            <a:r>
              <a:rPr dirty="0"/>
              <a:t>2026. 06. 05  |  </a:t>
            </a:r>
            <a:r>
              <a:rPr dirty="0" err="1"/>
              <a:t>덤프링</a:t>
            </a:r>
            <a:r>
              <a:rPr dirty="0"/>
              <a:t> UI/UX </a:t>
            </a:r>
            <a:r>
              <a:rPr dirty="0" err="1"/>
              <a:t>기획본부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1.</a:t>
            </a:r>
            <a:r>
              <a:rPr dirty="0"/>
              <a:t> </a:t>
            </a:r>
            <a:r>
              <a:rPr dirty="0" err="1"/>
              <a:t>회원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(</a:t>
            </a:r>
            <a:r>
              <a:rPr dirty="0" err="1"/>
              <a:t>목록</a:t>
            </a:r>
            <a:r>
              <a:rPr dirty="0"/>
              <a:t>, </a:t>
            </a:r>
            <a:r>
              <a:rPr dirty="0" err="1"/>
              <a:t>검색</a:t>
            </a:r>
            <a:r>
              <a:rPr dirty="0"/>
              <a:t>, </a:t>
            </a:r>
            <a:r>
              <a:rPr dirty="0" err="1"/>
              <a:t>상세</a:t>
            </a:r>
            <a:r>
              <a:rPr dirty="0"/>
              <a:t>) [ADM-DIR-01]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회원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rPr dirty="0" err="1"/>
              <a:t>회원</a:t>
            </a:r>
            <a:r>
              <a:rPr dirty="0"/>
              <a:t> </a:t>
            </a:r>
            <a:r>
              <a:rPr dirty="0" err="1"/>
              <a:t>승인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737360"/>
            <a:ext cx="64008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검색 조건: [ 기사/차주/현장/하차지 ] | 검색필드: [ 회원명/연락처/차량번호 ] ➔ [검색 버튼]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2468880"/>
            <a:ext cx="411480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68880" y="2514600"/>
            <a:ext cx="3931920" cy="16773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성명</a:t>
            </a:r>
            <a:r>
              <a:rPr dirty="0"/>
              <a:t> | </a:t>
            </a:r>
            <a:r>
              <a:rPr dirty="0" err="1"/>
              <a:t>역할</a:t>
            </a:r>
            <a:r>
              <a:rPr dirty="0"/>
              <a:t> | </a:t>
            </a:r>
            <a:r>
              <a:rPr dirty="0" err="1"/>
              <a:t>연락처</a:t>
            </a:r>
            <a:r>
              <a:rPr dirty="0"/>
              <a:t> | </a:t>
            </a:r>
            <a:r>
              <a:rPr dirty="0" err="1"/>
              <a:t>상태</a:t>
            </a:r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2377440" y="283464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880360"/>
            <a:ext cx="393192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강감찬</a:t>
            </a:r>
            <a:r>
              <a:rPr dirty="0"/>
              <a:t> | </a:t>
            </a:r>
            <a:r>
              <a:rPr dirty="0" err="1"/>
              <a:t>기사</a:t>
            </a:r>
            <a:r>
              <a:rPr dirty="0"/>
              <a:t> | 010-1111-2222 | </a:t>
            </a:r>
            <a:r>
              <a:rPr lang="ko-KR" altLang="en-US" dirty="0"/>
              <a:t>승인완료</a:t>
            </a:r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2377440" y="342900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3474720"/>
            <a:ext cx="393192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 </a:t>
            </a:r>
            <a:r>
              <a:rPr dirty="0" err="1"/>
              <a:t>홍길동</a:t>
            </a:r>
            <a:r>
              <a:rPr dirty="0"/>
              <a:t> | </a:t>
            </a:r>
            <a:r>
              <a:rPr dirty="0" err="1"/>
              <a:t>차주</a:t>
            </a:r>
            <a:r>
              <a:rPr dirty="0"/>
              <a:t> | 010-3333-4444 | </a:t>
            </a:r>
            <a:r>
              <a:rPr lang="ko-KR" altLang="en-US" dirty="0"/>
              <a:t>승인완료</a:t>
            </a:r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6675120" y="2468880"/>
            <a:ext cx="24688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2560320"/>
            <a:ext cx="210312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[ 회원 정보 상세 ]</a:t>
            </a:r>
            <a:br/>
            <a:br/>
            <a:r>
              <a:t>• 이름: 강감찬 (기사)</a:t>
            </a:r>
            <a:br/>
            <a:r>
              <a:t>• 소속 차주: 대진운송</a:t>
            </a:r>
            <a:br/>
            <a:r>
              <a:t>• 매핑 차량: 경기 82자 7732</a:t>
            </a:r>
            <a:br/>
            <a:r>
              <a:t>• 덤프 규격: 15톤</a:t>
            </a:r>
            <a:br/>
            <a:r>
              <a:t>• 완료 운송: 14 건</a:t>
            </a:r>
            <a:br/>
            <a:r>
              <a:t>• 평점: 4.8 / 5.0</a:t>
            </a:r>
            <a:br/>
            <a:r>
              <a:t>• 제재: 적재 덮개 불량 주의 1회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5394960"/>
            <a:ext cx="10972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0" y="5440680"/>
            <a:ext cx="1097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활동 정지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5394960"/>
            <a:ext cx="109728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0" y="5440680"/>
            <a:ext cx="1097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강제 탈퇴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플랫폼에 가입한 전체 사용자의 역할군(기사/차주/현장/하차지) 및 상태 필터링 검색</a:t>
            </a:r>
            <a:br/>
            <a:r>
              <a:t>2. 회원 세부 정보 조회 및 운행 통계, 평점 확인</a:t>
            </a:r>
            <a:br/>
            <a:r>
              <a:t>3. 정책 위반 유저 대상 자격 정지 및 강제 탈퇴 처리</a:t>
            </a:r>
            <a:br/>
            <a:br/>
            <a:r>
              <a:t>■ 화면 주요 구성 요소 (Main UI Components)</a:t>
            </a:r>
            <a:br/>
            <a:r>
              <a:t>1. 상단 다중 필터 검색 바: 역할별, 휴대폰 번호, 차량번호 기반 검색 엔진</a:t>
            </a:r>
            <a:br/>
            <a:r>
              <a:t>2. 좌측 회원 목록 테이블: 회원 기본 정보 목록 리스트 뷰</a:t>
            </a:r>
            <a:br/>
            <a:r>
              <a:t>3. 우측 회원 프로필 상세 패널: 위반 이력 조회 및 정지/탈퇴 제어 기능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2. </a:t>
            </a:r>
            <a:r>
              <a:rPr dirty="0" err="1"/>
              <a:t>회원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(</a:t>
            </a:r>
            <a:r>
              <a:rPr dirty="0" err="1"/>
              <a:t>목록</a:t>
            </a:r>
            <a:r>
              <a:rPr dirty="0"/>
              <a:t>, </a:t>
            </a:r>
            <a:r>
              <a:rPr dirty="0" err="1"/>
              <a:t>검색</a:t>
            </a:r>
            <a:r>
              <a:rPr dirty="0"/>
              <a:t>, </a:t>
            </a:r>
            <a:r>
              <a:rPr dirty="0" err="1"/>
              <a:t>상세</a:t>
            </a:r>
            <a:r>
              <a:rPr dirty="0"/>
              <a:t>, </a:t>
            </a:r>
            <a:r>
              <a:rPr dirty="0" err="1"/>
              <a:t>반려</a:t>
            </a:r>
            <a:r>
              <a:rPr dirty="0"/>
              <a:t>, </a:t>
            </a:r>
            <a:r>
              <a:rPr dirty="0" err="1"/>
              <a:t>승인</a:t>
            </a:r>
            <a:r>
              <a:rPr dirty="0"/>
              <a:t>, </a:t>
            </a:r>
            <a:r>
              <a:rPr dirty="0" err="1"/>
              <a:t>육안비교</a:t>
            </a:r>
            <a:r>
              <a:rPr dirty="0"/>
              <a:t>) [ADM-APR-01]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회원 승인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691640"/>
            <a:ext cx="64008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검색: [ 승인 대기자 목록 ] ➔ 역할: [ 기사/차주/하차지 ] | 검색어: [ 강감찬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2286000"/>
            <a:ext cx="320040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68880" y="2331720"/>
            <a:ext cx="30175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신청자 | 가입유형 | 신청일 | 상태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651760"/>
            <a:ext cx="3200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697480"/>
            <a:ext cx="301752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강감찬</a:t>
            </a:r>
            <a:r>
              <a:rPr dirty="0"/>
              <a:t> </a:t>
            </a:r>
            <a:r>
              <a:rPr dirty="0" err="1"/>
              <a:t>기사</a:t>
            </a:r>
            <a:r>
              <a:rPr dirty="0"/>
              <a:t> | </a:t>
            </a:r>
            <a:r>
              <a:rPr dirty="0" err="1"/>
              <a:t>드라이버</a:t>
            </a:r>
            <a:r>
              <a:rPr dirty="0"/>
              <a:t> | 2026.06.05 | </a:t>
            </a:r>
            <a:r>
              <a:rPr lang="ko-KR" altLang="en-US" dirty="0"/>
              <a:t>승인대기</a:t>
            </a:r>
            <a:br>
              <a:rPr dirty="0"/>
            </a:br>
            <a:r>
              <a:rPr dirty="0" err="1"/>
              <a:t>제출서류</a:t>
            </a:r>
            <a:r>
              <a:rPr dirty="0"/>
              <a:t>: </a:t>
            </a:r>
            <a:r>
              <a:rPr dirty="0" err="1"/>
              <a:t>면허증</a:t>
            </a:r>
            <a:r>
              <a:rPr dirty="0"/>
              <a:t>, </a:t>
            </a:r>
            <a:r>
              <a:rPr dirty="0" err="1"/>
              <a:t>화물자격증</a:t>
            </a:r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4846320" y="2697480"/>
            <a:ext cx="6400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0" y="2743200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서류비교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286000"/>
            <a:ext cx="3383280" cy="3749039"/>
          </a:xfrm>
          <a:prstGeom prst="rect">
            <a:avLst/>
          </a:prstGeom>
          <a:solidFill>
            <a:srgbClr val="E2E8F0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52159" y="2377440"/>
            <a:ext cx="3200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• 실물 서류 육안비교 대조창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743200"/>
            <a:ext cx="2834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0" y="2834640"/>
            <a:ext cx="265176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운전면허증</a:t>
            </a:r>
            <a:br/>
            <a:r>
              <a:t>성명: 강감찬</a:t>
            </a:r>
            <a:br/>
            <a:r>
              <a:t>면허번호: 12-34-5678-90</a:t>
            </a:r>
            <a:br/>
            <a:r>
              <a:t>적성검사: 2026.12.31</a:t>
            </a:r>
            <a:br/>
            <a:r>
              <a:t>[조건: 1종 대형]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4297680"/>
            <a:ext cx="2834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0" y="4343400"/>
            <a:ext cx="265176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입력 정보 대조:</a:t>
            </a:r>
            <a:br/>
            <a:r>
              <a:t>성명: 강감찬 (일치)</a:t>
            </a:r>
            <a:br/>
            <a:r>
              <a:t>면허 조건: 1종 대형 (일치)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5394960"/>
            <a:ext cx="128016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5440680"/>
            <a:ext cx="12801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심사 승인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5394960"/>
            <a:ext cx="128016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89520" y="5440680"/>
            <a:ext cx="12801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서류 반려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1463040"/>
            <a:ext cx="2103120" cy="281461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(Key Functions)</a:t>
            </a:r>
            <a:br>
              <a:rPr dirty="0"/>
            </a:br>
            <a:r>
              <a:rPr dirty="0"/>
              <a:t>1. </a:t>
            </a:r>
            <a:r>
              <a:rPr dirty="0" err="1"/>
              <a:t>회원</a:t>
            </a:r>
            <a:r>
              <a:rPr dirty="0"/>
              <a:t> </a:t>
            </a:r>
            <a:r>
              <a:rPr dirty="0" err="1"/>
              <a:t>상태가</a:t>
            </a:r>
            <a:r>
              <a:rPr lang="en-US" dirty="0"/>
              <a:t> </a:t>
            </a:r>
            <a:r>
              <a:rPr lang="ko-KR" altLang="en-US" dirty="0"/>
              <a:t>승인대기</a:t>
            </a:r>
            <a:r>
              <a:rPr dirty="0"/>
              <a:t>인 </a:t>
            </a:r>
            <a:r>
              <a:rPr dirty="0" err="1"/>
              <a:t>신청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 </a:t>
            </a:r>
            <a:r>
              <a:rPr dirty="0" err="1"/>
              <a:t>조회</a:t>
            </a:r>
            <a:r>
              <a:rPr dirty="0"/>
              <a:t> 및 </a:t>
            </a:r>
            <a:r>
              <a:rPr dirty="0" err="1"/>
              <a:t>검색</a:t>
            </a:r>
            <a:br>
              <a:rPr dirty="0"/>
            </a:br>
            <a:r>
              <a:rPr dirty="0"/>
              <a:t>2.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정보와</a:t>
            </a:r>
            <a:r>
              <a:rPr dirty="0"/>
              <a:t> </a:t>
            </a:r>
            <a:r>
              <a:rPr dirty="0" err="1"/>
              <a:t>제출</a:t>
            </a:r>
            <a:r>
              <a:rPr dirty="0"/>
              <a:t> </a:t>
            </a:r>
            <a:r>
              <a:rPr dirty="0" err="1"/>
              <a:t>서류</a:t>
            </a:r>
            <a:r>
              <a:rPr dirty="0"/>
              <a:t>(</a:t>
            </a:r>
            <a:r>
              <a:rPr dirty="0" err="1"/>
              <a:t>면허증</a:t>
            </a:r>
            <a:r>
              <a:rPr dirty="0"/>
              <a:t>/</a:t>
            </a:r>
            <a:r>
              <a:rPr dirty="0" err="1"/>
              <a:t>자격증</a:t>
            </a:r>
            <a:r>
              <a:rPr dirty="0"/>
              <a:t> 등)의 </a:t>
            </a:r>
            <a:r>
              <a:rPr dirty="0" err="1"/>
              <a:t>인브라우저</a:t>
            </a:r>
            <a:r>
              <a:rPr dirty="0"/>
              <a:t> </a:t>
            </a:r>
            <a:r>
              <a:rPr dirty="0" err="1"/>
              <a:t>육안비교</a:t>
            </a:r>
            <a:r>
              <a:rPr dirty="0"/>
              <a:t> </a:t>
            </a:r>
            <a:r>
              <a:rPr dirty="0" err="1"/>
              <a:t>대조</a:t>
            </a:r>
            <a:r>
              <a:rPr dirty="0"/>
              <a:t> </a:t>
            </a:r>
            <a:r>
              <a:rPr dirty="0" err="1"/>
              <a:t>판독</a:t>
            </a:r>
            <a:br>
              <a:rPr dirty="0"/>
            </a:br>
            <a:r>
              <a:rPr dirty="0"/>
              <a:t>3. </a:t>
            </a:r>
            <a:r>
              <a:rPr dirty="0" err="1"/>
              <a:t>심사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승인</a:t>
            </a:r>
            <a:r>
              <a:rPr dirty="0"/>
              <a:t>(</a:t>
            </a:r>
            <a:r>
              <a:rPr lang="ko-KR" altLang="en-US" dirty="0"/>
              <a:t>배차 가능 상태</a:t>
            </a:r>
            <a:r>
              <a:rPr dirty="0"/>
              <a:t>) 및 </a:t>
            </a:r>
            <a:r>
              <a:rPr dirty="0" err="1"/>
              <a:t>거절</a:t>
            </a:r>
            <a:r>
              <a:rPr dirty="0"/>
              <a:t>(</a:t>
            </a:r>
            <a:r>
              <a:rPr dirty="0" err="1"/>
              <a:t>반려</a:t>
            </a:r>
            <a:r>
              <a:rPr dirty="0"/>
              <a:t> </a:t>
            </a:r>
            <a:r>
              <a:rPr dirty="0" err="1"/>
              <a:t>사유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후 SMS </a:t>
            </a:r>
            <a:r>
              <a:rPr dirty="0" err="1"/>
              <a:t>송출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</a:t>
            </a:r>
            <a:r>
              <a:rPr dirty="0"/>
              <a:t> (Main UI Components)</a:t>
            </a:r>
            <a:br>
              <a:rPr dirty="0"/>
            </a:br>
            <a:r>
              <a:rPr dirty="0"/>
              <a:t>1. 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대기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: </a:t>
            </a:r>
            <a:r>
              <a:rPr dirty="0" err="1"/>
              <a:t>접수된</a:t>
            </a:r>
            <a:r>
              <a:rPr dirty="0"/>
              <a:t> </a:t>
            </a:r>
            <a:r>
              <a:rPr dirty="0" err="1"/>
              <a:t>순서대로</a:t>
            </a:r>
            <a:r>
              <a:rPr dirty="0"/>
              <a:t> </a:t>
            </a:r>
            <a:r>
              <a:rPr dirty="0" err="1"/>
              <a:t>신청자</a:t>
            </a:r>
            <a:r>
              <a:rPr dirty="0"/>
              <a:t> </a:t>
            </a:r>
            <a:r>
              <a:rPr dirty="0" err="1"/>
              <a:t>유형</a:t>
            </a:r>
            <a:r>
              <a:rPr dirty="0"/>
              <a:t> </a:t>
            </a:r>
            <a:r>
              <a:rPr dirty="0" err="1"/>
              <a:t>요약</a:t>
            </a:r>
            <a:r>
              <a:rPr dirty="0"/>
              <a:t> </a:t>
            </a:r>
            <a:r>
              <a:rPr dirty="0" err="1"/>
              <a:t>노출</a:t>
            </a:r>
            <a:br>
              <a:rPr dirty="0"/>
            </a:br>
            <a:r>
              <a:rPr dirty="0"/>
              <a:t>2. </a:t>
            </a:r>
            <a:r>
              <a:rPr dirty="0" err="1"/>
              <a:t>육안비교</a:t>
            </a:r>
            <a:r>
              <a:rPr dirty="0"/>
              <a:t> </a:t>
            </a:r>
            <a:r>
              <a:rPr dirty="0" err="1"/>
              <a:t>분할</a:t>
            </a:r>
            <a:r>
              <a:rPr dirty="0"/>
              <a:t> </a:t>
            </a:r>
            <a:r>
              <a:rPr dirty="0" err="1"/>
              <a:t>패널</a:t>
            </a:r>
            <a:r>
              <a:rPr dirty="0"/>
              <a:t>: </a:t>
            </a:r>
            <a:r>
              <a:rPr dirty="0" err="1"/>
              <a:t>기사가</a:t>
            </a:r>
            <a:r>
              <a:rPr dirty="0"/>
              <a:t> </a:t>
            </a:r>
            <a:r>
              <a:rPr dirty="0" err="1"/>
              <a:t>기입한</a:t>
            </a:r>
            <a:r>
              <a:rPr dirty="0"/>
              <a:t> </a:t>
            </a:r>
            <a:r>
              <a:rPr dirty="0" err="1"/>
              <a:t>정보와</a:t>
            </a:r>
            <a:r>
              <a:rPr dirty="0"/>
              <a:t> </a:t>
            </a:r>
            <a:r>
              <a:rPr dirty="0" err="1"/>
              <a:t>업로드된</a:t>
            </a:r>
            <a:r>
              <a:rPr dirty="0"/>
              <a:t> </a:t>
            </a:r>
            <a:r>
              <a:rPr dirty="0" err="1"/>
              <a:t>스캔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이미지의</a:t>
            </a:r>
            <a:r>
              <a:rPr dirty="0"/>
              <a:t> </a:t>
            </a:r>
            <a:r>
              <a:rPr dirty="0" err="1"/>
              <a:t>나란히</a:t>
            </a:r>
            <a:r>
              <a:rPr dirty="0"/>
              <a:t> </a:t>
            </a:r>
            <a:r>
              <a:rPr dirty="0" err="1"/>
              <a:t>보기</a:t>
            </a:r>
            <a:r>
              <a:rPr dirty="0"/>
              <a:t> </a:t>
            </a:r>
            <a:r>
              <a:rPr dirty="0" err="1"/>
              <a:t>레이아웃</a:t>
            </a:r>
            <a:br>
              <a:rPr dirty="0"/>
            </a:br>
            <a:r>
              <a:rPr dirty="0"/>
              <a:t>3. </a:t>
            </a:r>
            <a:r>
              <a:rPr dirty="0" err="1"/>
              <a:t>반려</a:t>
            </a:r>
            <a:r>
              <a:rPr dirty="0"/>
              <a:t>/</a:t>
            </a:r>
            <a:r>
              <a:rPr dirty="0" err="1"/>
              <a:t>승인</a:t>
            </a:r>
            <a:r>
              <a:rPr dirty="0"/>
              <a:t> </a:t>
            </a:r>
            <a:r>
              <a:rPr lang="ko-KR" altLang="en-US" dirty="0"/>
              <a:t>버튼</a:t>
            </a:r>
            <a:r>
              <a:rPr dirty="0"/>
              <a:t>:  </a:t>
            </a:r>
            <a:r>
              <a:rPr lang="ko-KR" altLang="en-US" dirty="0"/>
              <a:t>반려</a:t>
            </a:r>
            <a:r>
              <a:rPr lang="en-US" altLang="ko-KR" dirty="0"/>
              <a:t>/</a:t>
            </a:r>
            <a:r>
              <a:rPr lang="ko-KR" altLang="en-US" dirty="0"/>
              <a:t>승인 여부에 따라 상태 정보를 변경하는 버튼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DUMPRING FLEET OWNER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차주</a:t>
            </a:r>
            <a:r>
              <a:rPr dirty="0"/>
              <a:t>/</a:t>
            </a:r>
            <a:r>
              <a:rPr dirty="0" err="1"/>
              <a:t>운송사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1. 차주/운송사 - 기사 관리 (목록, 등록, 검색, 수정, 삭제) [FLT-DRV-01]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기사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차량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560320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현황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73736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: [ </a:t>
            </a:r>
            <a:r>
              <a:rPr dirty="0" err="1"/>
              <a:t>기사명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] ➔ [</a:t>
            </a:r>
            <a:r>
              <a:rPr dirty="0" err="1"/>
              <a:t>검색</a:t>
            </a:r>
            <a:r>
              <a:rPr dirty="0"/>
              <a:t>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737360"/>
            <a:ext cx="10972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1810512"/>
            <a:ext cx="1097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+ 기사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468880"/>
            <a:ext cx="384048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51460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성명 | 연락처 | 면허종류 | 상태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83464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288036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강감찬 | 010-1111-2222 | 1종대형 | 승인(APPROVED)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42900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8880" y="347472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임꺽정 | 010-3333-4444 | 1종대형 | 대기(PENDING)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468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2560320"/>
            <a:ext cx="246888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[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등록</a:t>
            </a:r>
            <a:r>
              <a:rPr dirty="0"/>
              <a:t>/</a:t>
            </a:r>
            <a:r>
              <a:rPr dirty="0" err="1"/>
              <a:t>수정</a:t>
            </a:r>
            <a:r>
              <a:rPr dirty="0"/>
              <a:t> ]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성명</a:t>
            </a:r>
            <a:r>
              <a:rPr dirty="0"/>
              <a:t>: </a:t>
            </a:r>
            <a:r>
              <a:rPr dirty="0" err="1"/>
              <a:t>강감찬</a:t>
            </a:r>
            <a:br>
              <a:rPr dirty="0"/>
            </a:br>
            <a:r>
              <a:rPr dirty="0"/>
              <a:t>• </a:t>
            </a:r>
            <a:r>
              <a:rPr dirty="0" err="1"/>
              <a:t>휴대폰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: 010-1111-2222</a:t>
            </a:r>
            <a:br>
              <a:rPr dirty="0"/>
            </a:br>
            <a:r>
              <a:rPr dirty="0"/>
              <a:t>• </a:t>
            </a:r>
            <a:r>
              <a:rPr dirty="0" err="1"/>
              <a:t>면허</a:t>
            </a:r>
            <a:r>
              <a:rPr dirty="0"/>
              <a:t> </a:t>
            </a:r>
            <a:r>
              <a:rPr dirty="0" err="1"/>
              <a:t>종류</a:t>
            </a:r>
            <a:r>
              <a:rPr dirty="0"/>
              <a:t>: [ 1종 </a:t>
            </a:r>
            <a:r>
              <a:rPr dirty="0" err="1"/>
              <a:t>대형</a:t>
            </a:r>
            <a:r>
              <a:rPr dirty="0"/>
              <a:t> ▼ ]</a:t>
            </a:r>
            <a:br>
              <a:rPr dirty="0"/>
            </a:br>
            <a:r>
              <a:rPr dirty="0"/>
              <a:t>• </a:t>
            </a:r>
            <a:r>
              <a:rPr dirty="0" err="1"/>
              <a:t>화물</a:t>
            </a:r>
            <a:r>
              <a:rPr dirty="0"/>
              <a:t> </a:t>
            </a:r>
            <a:r>
              <a:rPr dirty="0" err="1"/>
              <a:t>자격</a:t>
            </a:r>
            <a:r>
              <a:rPr dirty="0"/>
              <a:t> </a:t>
            </a:r>
            <a:r>
              <a:rPr dirty="0" err="1"/>
              <a:t>증명</a:t>
            </a:r>
            <a:r>
              <a:rPr dirty="0"/>
              <a:t> </a:t>
            </a:r>
            <a:r>
              <a:rPr dirty="0" err="1"/>
              <a:t>번호</a:t>
            </a:r>
            <a:r>
              <a:rPr dirty="0"/>
              <a:t>: 12-345-67</a:t>
            </a:r>
            <a:br>
              <a:rPr dirty="0"/>
            </a:br>
            <a:r>
              <a:rPr dirty="0"/>
              <a:t>• 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: [ APPROVED ]</a:t>
            </a:r>
            <a:br>
              <a:rPr dirty="0"/>
            </a:br>
            <a:r>
              <a:rPr dirty="0"/>
              <a:t>• </a:t>
            </a:r>
            <a:r>
              <a:rPr dirty="0" err="1"/>
              <a:t>매핑된</a:t>
            </a:r>
            <a:r>
              <a:rPr dirty="0"/>
              <a:t> </a:t>
            </a:r>
            <a:r>
              <a:rPr dirty="0" err="1"/>
              <a:t>차량</a:t>
            </a:r>
            <a:r>
              <a:rPr dirty="0"/>
              <a:t>: </a:t>
            </a:r>
            <a:r>
              <a:rPr dirty="0" err="1"/>
              <a:t>경기</a:t>
            </a:r>
            <a:r>
              <a:rPr dirty="0"/>
              <a:t> 82자 7732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394960"/>
            <a:ext cx="1188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수정 저장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5394960"/>
            <a:ext cx="11887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기사 삭제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소속 기사 신규 가입 등록(면허 정보 및 연락처 입력), 정보 수정 및 삭제</a:t>
            </a:r>
            <a:br/>
            <a:r>
              <a:t>2. 화물운송 자격유무 및 면허 적성검사 갱신일 알림 관리</a:t>
            </a:r>
            <a:br/>
            <a:br/>
            <a:r>
              <a:t>■ 화면 주요 구성 요소 (Main UI Components)</a:t>
            </a:r>
            <a:br/>
            <a:r>
              <a:t>1. 상단 컨트롤바: 이름 필터링 조회 및 기사 추가 모달 트리거</a:t>
            </a:r>
            <a:br/>
            <a:r>
              <a:t>2. 좌측 목록 뷰: 운송 승인 상태 및 자격유무 표시 테이블</a:t>
            </a:r>
            <a:br/>
            <a:r>
              <a:t>3. 우측 상세 입력: 텍스트 입력창 및 면허증 라이센스 설정 인풋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2. 차주/운송사 - 차량 관리 (목록, 등록, 검색, 수정, 삭제) [FLT-CAR-01]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차량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03935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현황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73736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차량 검색: [ 차량번호 입력 ] ➔ [검색]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737360"/>
            <a:ext cx="10972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1810512"/>
            <a:ext cx="1097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+ 차량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468880"/>
            <a:ext cx="384048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51460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차량번호 | 차종 톤수 | 제조사 | 상태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83464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288036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경기 82자 7732 | 15톤 덤프 | 현대 트라고 | APPROVED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42900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8880" y="347472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인천 80바 4531 | 25.5톤 덤프 | 볼보 FM | PENDING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468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2560320"/>
            <a:ext cx="246888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[ 소속 차량 등록/수정 ]</a:t>
            </a:r>
            <a:br/>
            <a:br/>
            <a:r>
              <a:t>• 차량번호: 경기 82자 7732</a:t>
            </a:r>
            <a:br/>
            <a:r>
              <a:t>• 차량 규격: [ 15톤 덤프 ▼ ]</a:t>
            </a:r>
            <a:br/>
            <a:r>
              <a:t>• 연식: 2018 년식</a:t>
            </a:r>
            <a:br/>
            <a:r>
              <a:t>• 검사 만료일: 2026-12-31</a:t>
            </a:r>
            <a:br/>
            <a:r>
              <a:t>• 보험 가입 유무: [ 가입 완료 ]</a:t>
            </a:r>
            <a:br/>
            <a:r>
              <a:t>• 제출 서류: 차량등록증, 영업허가증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394960"/>
            <a:ext cx="1188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수정 저장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5394960"/>
            <a:ext cx="11887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차량 삭제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소속 영업용 덤프 차량의 신규 등록, 정기 검사 주기 정보 확인 및 정보 삭제</a:t>
            </a:r>
            <a:br/>
            <a:r>
              <a:t>2. 차량 등록 서류(등록증, 보험영수증 등) 첨부 파일 관리</a:t>
            </a:r>
            <a:br/>
            <a:br/>
            <a:r>
              <a:t>■ 화면 주요 구성 요소 (Main UI Components)</a:t>
            </a:r>
            <a:br/>
            <a:r>
              <a:t>1. 상단 제어 바: 차량 번호 검색창 및 추가 액션 버튼</a:t>
            </a:r>
            <a:br/>
            <a:r>
              <a:t>2. 좌측 차량 그리드: 차종 규격(15t/25.5t 등) 및 승인 여부 표기</a:t>
            </a:r>
            <a:br/>
            <a:r>
              <a:t>3. 우측 정보 수정 패널: 세부 스펙 수치 등록 및 파일 첨부 모듈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3</a:t>
            </a:r>
            <a:r>
              <a:rPr dirty="0"/>
              <a:t>. </a:t>
            </a:r>
            <a:r>
              <a:rPr dirty="0" err="1"/>
              <a:t>차주</a:t>
            </a:r>
            <a:r>
              <a:rPr dirty="0"/>
              <a:t>/</a:t>
            </a:r>
            <a:r>
              <a:rPr dirty="0" err="1"/>
              <a:t>운송사</a:t>
            </a:r>
            <a:r>
              <a:rPr dirty="0"/>
              <a:t> -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현황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[FLT-DSP-01]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기사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차량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2496312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" y="2569464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4389120" cy="4389120"/>
          </a:xfrm>
          <a:prstGeom prst="rect">
            <a:avLst/>
          </a:prstGeom>
          <a:solidFill>
            <a:srgbClr val="DCE1E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828800"/>
            <a:ext cx="4023360" cy="4023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[ </a:t>
            </a:r>
            <a:r>
              <a:rPr dirty="0" err="1"/>
              <a:t>소속</a:t>
            </a:r>
            <a:r>
              <a:rPr dirty="0"/>
              <a:t> </a:t>
            </a:r>
            <a:r>
              <a:rPr dirty="0" err="1"/>
              <a:t>트럭</a:t>
            </a:r>
            <a:r>
              <a:rPr dirty="0"/>
              <a:t> 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관제도</a:t>
            </a:r>
            <a:r>
              <a:rPr dirty="0"/>
              <a:t> ]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강감찬</a:t>
            </a:r>
            <a:r>
              <a:rPr dirty="0"/>
              <a:t> (</a:t>
            </a:r>
            <a:r>
              <a:rPr dirty="0" err="1"/>
              <a:t>경기</a:t>
            </a:r>
            <a:r>
              <a:rPr dirty="0"/>
              <a:t> 82자 7732) - </a:t>
            </a:r>
            <a:r>
              <a:rPr dirty="0" err="1"/>
              <a:t>송도</a:t>
            </a:r>
            <a:r>
              <a:rPr dirty="0"/>
              <a:t> </a:t>
            </a:r>
            <a:r>
              <a:rPr dirty="0" err="1"/>
              <a:t>A현장</a:t>
            </a:r>
            <a:r>
              <a:rPr dirty="0"/>
              <a:t> ➔ </a:t>
            </a:r>
            <a:r>
              <a:rPr dirty="0" err="1"/>
              <a:t>남항</a:t>
            </a:r>
            <a:r>
              <a:rPr dirty="0"/>
              <a:t> </a:t>
            </a:r>
            <a:r>
              <a:rPr dirty="0" err="1"/>
              <a:t>주행</a:t>
            </a:r>
            <a:r>
              <a:rPr dirty="0"/>
              <a:t> 중</a:t>
            </a:r>
            <a:br>
              <a:rPr dirty="0"/>
            </a:br>
            <a:r>
              <a:rPr dirty="0"/>
              <a:t>• </a:t>
            </a:r>
            <a:r>
              <a:rPr dirty="0" err="1"/>
              <a:t>홍길동</a:t>
            </a:r>
            <a:r>
              <a:rPr dirty="0"/>
              <a:t> (</a:t>
            </a:r>
            <a:r>
              <a:rPr dirty="0" err="1"/>
              <a:t>인천</a:t>
            </a:r>
            <a:r>
              <a:rPr dirty="0"/>
              <a:t> 80바 4531) - </a:t>
            </a:r>
            <a:r>
              <a:rPr dirty="0" err="1"/>
              <a:t>서구</a:t>
            </a:r>
            <a:r>
              <a:rPr dirty="0"/>
              <a:t> </a:t>
            </a:r>
            <a:r>
              <a:rPr dirty="0" err="1"/>
              <a:t>매립장</a:t>
            </a:r>
            <a:r>
              <a:rPr dirty="0"/>
              <a:t> </a:t>
            </a:r>
            <a:r>
              <a:rPr dirty="0" err="1"/>
              <a:t>하차</a:t>
            </a:r>
            <a:r>
              <a:rPr dirty="0"/>
              <a:t> </a:t>
            </a:r>
            <a:r>
              <a:rPr dirty="0" err="1"/>
              <a:t>대기</a:t>
            </a:r>
            <a:br>
              <a:rPr dirty="0"/>
            </a:br>
            <a:r>
              <a:rPr dirty="0"/>
              <a:t>•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(5초 </a:t>
            </a:r>
            <a:r>
              <a:rPr dirty="0" err="1"/>
              <a:t>주기</a:t>
            </a:r>
            <a:r>
              <a:rPr dirty="0"/>
              <a:t> GPS </a:t>
            </a:r>
            <a:r>
              <a:rPr dirty="0" err="1"/>
              <a:t>리프레시</a:t>
            </a:r>
            <a:r>
              <a:rPr dirty="0"/>
              <a:t>) </a:t>
            </a:r>
            <a:r>
              <a:rPr dirty="0" err="1"/>
              <a:t>시각화</a:t>
            </a:r>
            <a:r>
              <a:rPr dirty="0"/>
              <a:t> </a:t>
            </a:r>
            <a:r>
              <a:rPr dirty="0" err="1"/>
              <a:t>마킹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949440" y="1645920"/>
            <a:ext cx="21945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소속 차량 실시간 오더 현황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01168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0" y="2057400"/>
            <a:ext cx="20116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강감찬</a:t>
            </a:r>
            <a:r>
              <a:rPr dirty="0"/>
              <a:t> | </a:t>
            </a:r>
            <a:r>
              <a:rPr dirty="0" err="1"/>
              <a:t>경기</a:t>
            </a:r>
            <a:r>
              <a:rPr dirty="0"/>
              <a:t> 82자</a:t>
            </a:r>
            <a:br>
              <a:rPr dirty="0"/>
            </a:br>
            <a:r>
              <a:rPr dirty="0" err="1"/>
              <a:t>상태</a:t>
            </a:r>
            <a:r>
              <a:rPr dirty="0"/>
              <a:t>: [ DRIVING ] (</a:t>
            </a:r>
            <a:r>
              <a:rPr dirty="0" err="1"/>
              <a:t>주행</a:t>
            </a:r>
            <a:r>
              <a:rPr dirty="0"/>
              <a:t>)</a:t>
            </a:r>
            <a:br>
              <a:rPr dirty="0"/>
            </a:br>
            <a:r>
              <a:rPr dirty="0" err="1"/>
              <a:t>금일</a:t>
            </a:r>
            <a:r>
              <a:rPr dirty="0"/>
              <a:t> </a:t>
            </a:r>
            <a:r>
              <a:rPr dirty="0" err="1"/>
              <a:t>회송</a:t>
            </a:r>
            <a:r>
              <a:rPr dirty="0"/>
              <a:t>: 4/10 회</a:t>
            </a:r>
            <a:br>
              <a:rPr dirty="0"/>
            </a:br>
            <a:r>
              <a:rPr dirty="0" err="1"/>
              <a:t>예정</a:t>
            </a:r>
            <a:r>
              <a:rPr dirty="0"/>
              <a:t> </a:t>
            </a:r>
            <a:r>
              <a:rPr dirty="0" err="1"/>
              <a:t>노선</a:t>
            </a:r>
            <a:r>
              <a:rPr dirty="0"/>
              <a:t>: </a:t>
            </a:r>
            <a:r>
              <a:rPr dirty="0" err="1"/>
              <a:t>송도</a:t>
            </a:r>
            <a:r>
              <a:rPr dirty="0"/>
              <a:t> A ➔ </a:t>
            </a:r>
            <a:r>
              <a:rPr dirty="0" err="1"/>
              <a:t>남항</a:t>
            </a:r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6949440" y="329184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3337560"/>
            <a:ext cx="20116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기사</a:t>
            </a:r>
            <a:r>
              <a:rPr dirty="0"/>
              <a:t> </a:t>
            </a:r>
            <a:r>
              <a:rPr dirty="0" err="1"/>
              <a:t>홍길동</a:t>
            </a:r>
            <a:r>
              <a:rPr dirty="0"/>
              <a:t> | </a:t>
            </a:r>
            <a:r>
              <a:rPr dirty="0" err="1"/>
              <a:t>인천</a:t>
            </a:r>
            <a:r>
              <a:rPr dirty="0"/>
              <a:t> 80바</a:t>
            </a:r>
            <a:br>
              <a:rPr dirty="0"/>
            </a:br>
            <a:r>
              <a:rPr dirty="0" err="1"/>
              <a:t>상태</a:t>
            </a:r>
            <a:r>
              <a:rPr dirty="0"/>
              <a:t>: [ ARRIVED ] (</a:t>
            </a:r>
            <a:r>
              <a:rPr dirty="0" err="1"/>
              <a:t>하차지</a:t>
            </a:r>
            <a:r>
              <a:rPr dirty="0"/>
              <a:t>)</a:t>
            </a:r>
            <a:br>
              <a:rPr dirty="0"/>
            </a:br>
            <a:r>
              <a:rPr dirty="0" err="1"/>
              <a:t>금일</a:t>
            </a:r>
            <a:r>
              <a:rPr dirty="0"/>
              <a:t> </a:t>
            </a:r>
            <a:r>
              <a:rPr dirty="0" err="1"/>
              <a:t>회송</a:t>
            </a:r>
            <a:r>
              <a:rPr dirty="0"/>
              <a:t>: 6/8 회</a:t>
            </a:r>
            <a:br>
              <a:rPr dirty="0"/>
            </a:b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: </a:t>
            </a:r>
            <a:r>
              <a:rPr dirty="0" err="1"/>
              <a:t>인천남항</a:t>
            </a:r>
            <a:r>
              <a:rPr dirty="0"/>
              <a:t> </a:t>
            </a:r>
            <a:r>
              <a:rPr dirty="0" err="1"/>
              <a:t>게이트</a:t>
            </a:r>
            <a:r>
              <a:rPr dirty="0"/>
              <a:t> </a:t>
            </a:r>
            <a:r>
              <a:rPr dirty="0" err="1"/>
              <a:t>통과</a:t>
            </a:r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6949440" y="4663440"/>
            <a:ext cx="21945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소속 차량 및 기사들이 현재 수행하고 있는 전체 운송 배차 주문 노선 모니터링</a:t>
            </a:r>
            <a:br/>
            <a:r>
              <a:t>2. 기사별 금일 목표 회송량 진척 상태 및 운행 중 이상 대기 지연 체크</a:t>
            </a:r>
            <a:br/>
            <a:br/>
            <a:r>
              <a:t>■ 화면 주요 구성 요소 (Main UI Components)</a:t>
            </a:r>
            <a:br/>
            <a:r>
              <a:t>1. 소속 트럭 맵 트래커: 담당 차량의 이동 패스 GPS 실시간 시각화 컴포넌트</a:t>
            </a:r>
            <a:br/>
            <a:r>
              <a:t>2. 운행 진척도 현황 보드: 소속 드라이버의 금일 누적 운송량 및 상태값 모니터 패널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DUMPRING SITE MANAGER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현장관리자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</a:defRPr>
            </a:pPr>
            <a:r>
              <a:t>2026. 06. 05  |  덤프링 UI/UX 기획본부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1</a:t>
            </a:r>
            <a:r>
              <a:rPr dirty="0"/>
              <a:t>. </a:t>
            </a:r>
            <a:r>
              <a:rPr dirty="0" err="1"/>
              <a:t>현장관리자</a:t>
            </a:r>
            <a:r>
              <a:rPr dirty="0"/>
              <a:t> -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(</a:t>
            </a:r>
            <a:r>
              <a:rPr dirty="0" err="1"/>
              <a:t>목록</a:t>
            </a:r>
            <a:r>
              <a:rPr dirty="0"/>
              <a:t>, </a:t>
            </a:r>
            <a:r>
              <a:rPr dirty="0" err="1"/>
              <a:t>검색</a:t>
            </a:r>
            <a:r>
              <a:rPr dirty="0"/>
              <a:t>, </a:t>
            </a:r>
            <a:r>
              <a:rPr dirty="0" err="1"/>
              <a:t>등록</a:t>
            </a:r>
            <a:r>
              <a:rPr dirty="0"/>
              <a:t>, </a:t>
            </a:r>
            <a:r>
              <a:rPr dirty="0" err="1"/>
              <a:t>상세</a:t>
            </a:r>
            <a:r>
              <a:rPr dirty="0"/>
              <a:t>, </a:t>
            </a:r>
            <a:r>
              <a:rPr dirty="0" err="1"/>
              <a:t>수정</a:t>
            </a:r>
            <a:r>
              <a:rPr dirty="0"/>
              <a:t>, </a:t>
            </a:r>
            <a:r>
              <a:rPr dirty="0" err="1"/>
              <a:t>삭제</a:t>
            </a:r>
            <a:r>
              <a:rPr dirty="0"/>
              <a:t>) [SIT-MNG-01]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현장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73736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현장 검색: [ 현장명 입력 ] ➔ [검색]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737360"/>
            <a:ext cx="10972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1810512"/>
            <a:ext cx="1097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+ 현장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468880"/>
            <a:ext cx="384048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51460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현장명 | 주소 | 담당자 | 상태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83464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288036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송도 지식정보단지 A | 인천 연수구 | 김현장 | ACTIVE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42900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8880" y="347472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청라 테트라포드 B공구 | 인천 서구 | 이현장 | ACTIVE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468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2560320"/>
            <a:ext cx="246888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[ 현장 세부 정보 수정/등록 ]</a:t>
            </a:r>
            <a:br/>
            <a:br/>
            <a:r>
              <a:t>• 현장명: 송도 지식정보단지 A</a:t>
            </a:r>
            <a:br/>
            <a:r>
              <a:t>• 소재지 주소: 인천 연수구 송도동 10-2</a:t>
            </a:r>
            <a:br/>
            <a:r>
              <a:t>• 현장 연락처: 032-888-9999</a:t>
            </a:r>
            <a:br/>
            <a:r>
              <a:t>• 진입 제한 톤수: 25.5톤 차량 진입 금지</a:t>
            </a:r>
            <a:br/>
            <a:r>
              <a:t>• 특이사항: 진입로 우회전 협소</a:t>
            </a:r>
            <a:br/>
            <a:r>
              <a:t>• 상태: [ 운영중 / 일시중지 / 완료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394960"/>
            <a:ext cx="1188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수정 저장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5394960"/>
            <a:ext cx="11887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현장 삭제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담당 현장의 신규 등록(주소, 제한조건 입력), 상세조회, 정보 변경 및 삭제</a:t>
            </a:r>
            <a:br/>
            <a:r>
              <a:t>2. 현장별 진입가능한 덤프트럭 제한(예: 15톤 이하만 진입 가능) 조건 설정</a:t>
            </a:r>
            <a:br/>
            <a:br/>
            <a:r>
              <a:t>■ 화면 주요 구성 요소 (Main UI Components)</a:t>
            </a:r>
            <a:br/>
            <a:r>
              <a:t>1. 상단 필터바 &amp; 등록단추: 신규 현장 폼 모달 오픈용 버튼 및 이름 기반 조회</a:t>
            </a:r>
            <a:br/>
            <a:r>
              <a:t>2. 좌측 목록 뷰: 페이징이 지원되는 현장 목록 테이블</a:t>
            </a:r>
            <a:br/>
            <a:r>
              <a:t>3. 우측 상세/수정 카드 패널: 텍스트박스 인풋 및 상태 라디오버튼 제어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2</a:t>
            </a:r>
            <a:r>
              <a:rPr dirty="0"/>
              <a:t>. </a:t>
            </a:r>
            <a:r>
              <a:rPr dirty="0" err="1"/>
              <a:t>현장관리자</a:t>
            </a:r>
            <a:r>
              <a:rPr dirty="0"/>
              <a:t> -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(</a:t>
            </a:r>
            <a:r>
              <a:rPr dirty="0" err="1"/>
              <a:t>목록</a:t>
            </a:r>
            <a:r>
              <a:rPr dirty="0"/>
              <a:t>, </a:t>
            </a:r>
            <a:r>
              <a:rPr dirty="0" err="1"/>
              <a:t>검색</a:t>
            </a:r>
            <a:r>
              <a:rPr dirty="0"/>
              <a:t>, </a:t>
            </a:r>
            <a:r>
              <a:rPr dirty="0" err="1"/>
              <a:t>등록</a:t>
            </a:r>
            <a:r>
              <a:rPr dirty="0"/>
              <a:t>, </a:t>
            </a:r>
            <a:r>
              <a:rPr dirty="0" err="1"/>
              <a:t>상세</a:t>
            </a:r>
            <a:r>
              <a:rPr dirty="0"/>
              <a:t>, </a:t>
            </a:r>
            <a:r>
              <a:rPr dirty="0" err="1"/>
              <a:t>수정</a:t>
            </a:r>
            <a:r>
              <a:rPr dirty="0"/>
              <a:t>, </a:t>
            </a:r>
            <a:r>
              <a:rPr dirty="0" err="1"/>
              <a:t>삭제</a:t>
            </a:r>
            <a:r>
              <a:rPr dirty="0"/>
              <a:t>) [SIT-DSP-01]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현장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배차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64592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배차 요청 건 목록 (최근 5건)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1920240"/>
            <a:ext cx="347472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68880" y="196596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현장 | 톤수 | 토사 | 하차지 | 상태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2286000"/>
            <a:ext cx="3474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8880" y="2304288"/>
            <a:ext cx="329184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송도 A | 15톤 | 사토 | 인천남항 (지정) | 모집중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2926080"/>
            <a:ext cx="3474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68880" y="2944368"/>
            <a:ext cx="329184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송도 A | 25.5톤 | 자갈 | (하차지 없음) | 모집중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645920"/>
            <a:ext cx="3108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1737360"/>
            <a:ext cx="2743200" cy="18312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[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등록</a:t>
            </a:r>
            <a:r>
              <a:rPr dirty="0"/>
              <a:t> 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103120"/>
            <a:ext cx="2743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2148840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대상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: [ </a:t>
            </a:r>
            <a:r>
              <a:rPr dirty="0" err="1"/>
              <a:t>송도</a:t>
            </a:r>
            <a:r>
              <a:rPr dirty="0"/>
              <a:t> </a:t>
            </a:r>
            <a:r>
              <a:rPr dirty="0" err="1"/>
              <a:t>지식정보단지</a:t>
            </a:r>
            <a:r>
              <a:rPr dirty="0"/>
              <a:t> A ▼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560320"/>
            <a:ext cx="2743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2606040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필요</a:t>
            </a:r>
            <a:r>
              <a:rPr dirty="0"/>
              <a:t> </a:t>
            </a:r>
            <a:r>
              <a:rPr dirty="0" err="1"/>
              <a:t>차종</a:t>
            </a:r>
            <a:r>
              <a:rPr dirty="0"/>
              <a:t>: [ 15톤 </a:t>
            </a:r>
            <a:r>
              <a:rPr dirty="0" err="1"/>
              <a:t>덤프</a:t>
            </a:r>
            <a:r>
              <a:rPr dirty="0"/>
              <a:t> ▼ 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017520"/>
            <a:ext cx="2743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3063240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토사</a:t>
            </a:r>
            <a:r>
              <a:rPr dirty="0"/>
              <a:t> </a:t>
            </a:r>
            <a:r>
              <a:rPr dirty="0" err="1"/>
              <a:t>종류</a:t>
            </a:r>
            <a:r>
              <a:rPr dirty="0"/>
              <a:t>: [ </a:t>
            </a:r>
            <a:r>
              <a:rPr dirty="0" err="1"/>
              <a:t>일반</a:t>
            </a:r>
            <a:r>
              <a:rPr dirty="0"/>
              <a:t> </a:t>
            </a:r>
            <a:r>
              <a:rPr dirty="0" err="1"/>
              <a:t>사토</a:t>
            </a:r>
            <a:r>
              <a:rPr dirty="0"/>
              <a:t>(흙) ▼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474720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 </a:t>
            </a:r>
            <a:r>
              <a:rPr dirty="0" err="1"/>
              <a:t>방식</a:t>
            </a:r>
            <a:r>
              <a:rPr dirty="0"/>
              <a:t>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794760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0" y="3840480"/>
            <a:ext cx="8229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75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1. </a:t>
            </a:r>
            <a:r>
              <a:rPr dirty="0" err="1"/>
              <a:t>없음</a:t>
            </a:r>
            <a:endParaRPr dirty="0"/>
          </a:p>
        </p:txBody>
      </p:sp>
      <p:sp>
        <p:nvSpPr>
          <p:cNvPr id="36" name="Rectangle 35"/>
          <p:cNvSpPr/>
          <p:nvPr/>
        </p:nvSpPr>
        <p:spPr>
          <a:xfrm>
            <a:off x="7086600" y="3794760"/>
            <a:ext cx="10058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86600" y="3840480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75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2. </a:t>
            </a:r>
            <a:r>
              <a:rPr dirty="0" err="1"/>
              <a:t>등록검색</a:t>
            </a:r>
            <a:endParaRPr dirty="0"/>
          </a:p>
        </p:txBody>
      </p:sp>
      <p:sp>
        <p:nvSpPr>
          <p:cNvPr id="38" name="Rectangle 37"/>
          <p:cNvSpPr/>
          <p:nvPr/>
        </p:nvSpPr>
        <p:spPr>
          <a:xfrm>
            <a:off x="8138160" y="3794760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38160" y="3840480"/>
            <a:ext cx="8229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75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3. </a:t>
            </a:r>
            <a:r>
              <a:rPr dirty="0" err="1"/>
              <a:t>직접입력</a:t>
            </a:r>
            <a:endParaRPr dirty="0"/>
          </a:p>
        </p:txBody>
      </p:sp>
      <p:sp>
        <p:nvSpPr>
          <p:cNvPr id="40" name="Rectangle 39"/>
          <p:cNvSpPr/>
          <p:nvPr/>
        </p:nvSpPr>
        <p:spPr>
          <a:xfrm>
            <a:off x="6217920" y="4206240"/>
            <a:ext cx="274320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60" y="4251960"/>
            <a:ext cx="2560320" cy="1005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4B5563"/>
                </a:solidFill>
                <a:latin typeface="Malgun Gothic"/>
              </a:defRPr>
            </a:pPr>
            <a:r>
              <a:rPr dirty="0"/>
              <a:t>[</a:t>
            </a: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모달</a:t>
            </a:r>
            <a:r>
              <a:rPr dirty="0"/>
              <a:t> </a:t>
            </a:r>
            <a:r>
              <a:rPr dirty="0" err="1"/>
              <a:t>선택됨</a:t>
            </a:r>
            <a:r>
              <a:rPr dirty="0"/>
              <a:t>]</a:t>
            </a:r>
            <a:br>
              <a:rPr dirty="0"/>
            </a:br>
            <a:r>
              <a:rPr dirty="0"/>
              <a:t>• </a:t>
            </a:r>
            <a:r>
              <a:rPr dirty="0" err="1"/>
              <a:t>매핑</a:t>
            </a:r>
            <a:r>
              <a:rPr dirty="0"/>
              <a:t> </a:t>
            </a:r>
            <a:r>
              <a:rPr dirty="0" err="1"/>
              <a:t>하차지</a:t>
            </a:r>
            <a:r>
              <a:rPr dirty="0"/>
              <a:t>: </a:t>
            </a:r>
            <a:r>
              <a:rPr dirty="0" err="1"/>
              <a:t>인천</a:t>
            </a:r>
            <a:r>
              <a:rPr dirty="0"/>
              <a:t> </a:t>
            </a:r>
            <a:r>
              <a:rPr dirty="0" err="1"/>
              <a:t>남항</a:t>
            </a:r>
            <a:r>
              <a:rPr dirty="0"/>
              <a:t> </a:t>
            </a:r>
            <a:r>
              <a:rPr dirty="0" err="1"/>
              <a:t>사토장</a:t>
            </a:r>
            <a:r>
              <a:rPr dirty="0"/>
              <a:t> </a:t>
            </a:r>
            <a:r>
              <a:rPr dirty="0" err="1"/>
              <a:t>B구역</a:t>
            </a:r>
            <a:br>
              <a:rPr dirty="0"/>
            </a:br>
            <a:r>
              <a:rPr dirty="0"/>
              <a:t>• </a:t>
            </a:r>
            <a:r>
              <a:rPr dirty="0" err="1"/>
              <a:t>거리</a:t>
            </a:r>
            <a:r>
              <a:rPr dirty="0"/>
              <a:t>: 약 14.5 km</a:t>
            </a:r>
            <a:br>
              <a:rPr dirty="0"/>
            </a:br>
            <a:r>
              <a:rPr dirty="0"/>
              <a:t>•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책정</a:t>
            </a:r>
            <a:r>
              <a:rPr dirty="0"/>
              <a:t> </a:t>
            </a:r>
            <a:r>
              <a:rPr dirty="0" err="1"/>
              <a:t>운임</a:t>
            </a:r>
            <a:r>
              <a:rPr dirty="0"/>
              <a:t>: ₩ 45,000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5486400"/>
            <a:ext cx="128016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0" y="5594875"/>
            <a:ext cx="128016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등록</a:t>
            </a:r>
            <a:endParaRPr dirty="0"/>
          </a:p>
        </p:txBody>
      </p:sp>
      <p:sp>
        <p:nvSpPr>
          <p:cNvPr id="44" name="Rectangle 43"/>
          <p:cNvSpPr/>
          <p:nvPr/>
        </p:nvSpPr>
        <p:spPr>
          <a:xfrm>
            <a:off x="7680960" y="5486400"/>
            <a:ext cx="128016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80960" y="5603840"/>
            <a:ext cx="128016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/>
              <a:t>취소</a:t>
            </a:r>
            <a:endParaRPr dirty="0"/>
          </a:p>
        </p:txBody>
      </p:sp>
      <p:sp>
        <p:nvSpPr>
          <p:cNvPr id="46" name="TextBox 45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덤프 트럭 배차 주문 생성(현장 선택, 차종 규격 선택, 토사 지정)</a:t>
            </a:r>
            <a:br/>
            <a:r>
              <a:t>2. 하차지 지정 방식 세분화 정책 적용:</a:t>
            </a:r>
            <a:br/>
            <a:r>
              <a:t>   - 없음: 하차지 없이 기사 자율 하차</a:t>
            </a:r>
            <a:br/>
            <a:r>
              <a:t>   - 등록검색: 플랫폼 DB 내 등록 하차지 검색 매핑</a:t>
            </a:r>
            <a:br/>
            <a:r>
              <a:t>   - 직접입력: 임시 텍스트 주소/위치 입력 설정</a:t>
            </a:r>
            <a:br/>
            <a:br/>
            <a:r>
              <a:t>■ 화면 주요 구성 요소 (Main UI Components)</a:t>
            </a:r>
            <a:br/>
            <a:r>
              <a:t>1. 좌측 오더 상황판 목록: 등록요청된 배차의 기사 매칭 현황 일람</a:t>
            </a:r>
            <a:br/>
            <a:r>
              <a:t>2. 우측 등록 콘솔: 톤수, 토사형태 셀렉터 박스 및 3가지 분기 하차지 탭 컨트롤 컴포넌트</a:t>
            </a:r>
          </a:p>
        </p:txBody>
      </p:sp>
      <p:sp>
        <p:nvSpPr>
          <p:cNvPr id="47" name="Rectangle 41">
            <a:extLst>
              <a:ext uri="{FF2B5EF4-FFF2-40B4-BE49-F238E27FC236}">
                <a16:creationId xmlns:a16="http://schemas.microsoft.com/office/drawing/2014/main" id="{94104CF4-B25E-D1EC-4F72-44C77A474E9A}"/>
              </a:ext>
            </a:extLst>
          </p:cNvPr>
          <p:cNvSpPr/>
          <p:nvPr/>
        </p:nvSpPr>
        <p:spPr>
          <a:xfrm>
            <a:off x="4645152" y="1634270"/>
            <a:ext cx="128016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7ADF2C-AE30-2240-87ED-DED0AB8DBCAA}"/>
              </a:ext>
            </a:extLst>
          </p:cNvPr>
          <p:cNvSpPr txBox="1"/>
          <p:nvPr/>
        </p:nvSpPr>
        <p:spPr>
          <a:xfrm>
            <a:off x="4645152" y="1679990"/>
            <a:ext cx="128016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/>
              <a:t>신규 등록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3</a:t>
            </a:r>
            <a:r>
              <a:rPr dirty="0"/>
              <a:t>. </a:t>
            </a:r>
            <a:r>
              <a:rPr dirty="0" err="1"/>
              <a:t>현장관리자</a:t>
            </a:r>
            <a:r>
              <a:rPr dirty="0"/>
              <a:t> - </a:t>
            </a:r>
            <a:r>
              <a:rPr dirty="0" err="1"/>
              <a:t>현장별</a:t>
            </a:r>
            <a:r>
              <a:rPr dirty="0"/>
              <a:t> </a:t>
            </a:r>
            <a:r>
              <a:rPr dirty="0" err="1"/>
              <a:t>지도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현황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[SIT-MON-01]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현장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4389120" cy="4389120"/>
          </a:xfrm>
          <a:prstGeom prst="rect">
            <a:avLst/>
          </a:prstGeom>
          <a:solidFill>
            <a:srgbClr val="DCE1E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828800"/>
            <a:ext cx="4023360" cy="4023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[ 담당 현장별 실시간 운행 추적 관제 ]</a:t>
            </a:r>
            <a:br/>
            <a:br/>
            <a:r>
              <a:t>• 송도 A ➔ 남항 사토장 노선 위 트럭 마커(🚚) 8대 이동 중</a:t>
            </a:r>
            <a:br/>
            <a:r>
              <a:t>• 덤프 트럭 아이콘 클릭 시: 차량번호, 기사 연락처, 현재 속도, 도착 예정 잔여시간(ETA) 레이어 오버레이 노출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645920"/>
            <a:ext cx="21945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현장 실시간 트럭 운행 로그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01168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0" y="2057400"/>
            <a:ext cx="20116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인천 80바 4531 (15t)</a:t>
            </a:r>
            <a:br/>
            <a:r>
              <a:t>송도 A지점 상차 완료</a:t>
            </a:r>
            <a:br/>
            <a:r>
              <a:t>상태: [ DRIVING ] (운행 중)</a:t>
            </a:r>
            <a:br/>
            <a:r>
              <a:t>남항 도착 예정: 14분 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329184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3337560"/>
            <a:ext cx="20116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경기 82자 7732 (25t)</a:t>
            </a:r>
            <a:br/>
            <a:r>
              <a:t>남항 하차 게이트 통과</a:t>
            </a:r>
            <a:br/>
            <a:r>
              <a:t>상태: [ ARRIVED ] (하차 완료)</a:t>
            </a:r>
            <a:br/>
            <a:r>
              <a:t>총 운송 소요: 28분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4663440"/>
            <a:ext cx="21945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0" y="4709160"/>
            <a:ext cx="21945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선택 차량 전화 걸기 (Call)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지도 기반으로 담당 현장에서 하차지까지의 운송 경로와 운행 차량 실시간 위치 모니터링</a:t>
            </a:r>
            <a:br/>
            <a:r>
              <a:t>2. 하차 도착 시 푸시 알림 및 게이트 통과 상태값(자동 도착 감지) 갱신 로그 확인</a:t>
            </a:r>
            <a:br/>
            <a:br/>
            <a:r>
              <a:t>■ 화면 주요 구성 요소 (Main UI Components)</a:t>
            </a:r>
            <a:br/>
            <a:r>
              <a:t>1. 위성/일반 맵 뷰: 상차지(현장)-하차지 간 라인 및 실시간 트럭 GPS 노드 표기</a:t>
            </a:r>
            <a:br/>
            <a:r>
              <a:t>2. 트럭 운행 상태 카드: 운행 상황(상송중/도착/대기/지연) 및 상세 이동 이력 로그 리스트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DUMPRING DROP-OFF MANAGER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하차지</a:t>
            </a:r>
            <a:r>
              <a:rPr lang="en-US" dirty="0"/>
              <a:t> </a:t>
            </a:r>
            <a:r>
              <a:rPr dirty="0" err="1"/>
              <a:t>관리자</a:t>
            </a:r>
            <a:r>
              <a:rPr lang="en-US" dirty="0"/>
              <a:t> </a:t>
            </a:r>
            <a:r>
              <a:rPr lang="ko-KR" altLang="en-US" dirty="0"/>
              <a:t>관리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</a:defRPr>
            </a:pPr>
            <a:r>
              <a:t>2026. 06. 05  |  덤프링 UI/UX 기획본부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1</a:t>
            </a:r>
            <a:r>
              <a:rPr dirty="0"/>
              <a:t>. </a:t>
            </a: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(</a:t>
            </a:r>
            <a:r>
              <a:rPr dirty="0" err="1"/>
              <a:t>목록</a:t>
            </a:r>
            <a:r>
              <a:rPr dirty="0"/>
              <a:t>, </a:t>
            </a:r>
            <a:r>
              <a:rPr dirty="0" err="1"/>
              <a:t>검색</a:t>
            </a:r>
            <a:r>
              <a:rPr dirty="0"/>
              <a:t>, </a:t>
            </a:r>
            <a:r>
              <a:rPr dirty="0" err="1"/>
              <a:t>등록</a:t>
            </a:r>
            <a:r>
              <a:rPr dirty="0"/>
              <a:t>, </a:t>
            </a:r>
            <a:r>
              <a:rPr dirty="0" err="1"/>
              <a:t>상세</a:t>
            </a:r>
            <a:r>
              <a:rPr dirty="0"/>
              <a:t>, </a:t>
            </a:r>
            <a:r>
              <a:rPr dirty="0" err="1"/>
              <a:t>수정</a:t>
            </a:r>
            <a:r>
              <a:rPr dirty="0"/>
              <a:t>, </a:t>
            </a:r>
            <a:r>
              <a:rPr dirty="0" err="1"/>
              <a:t>삭제</a:t>
            </a:r>
            <a:r>
              <a:rPr dirty="0"/>
              <a:t>) [DRP-MNG-01]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하차지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rPr lang="ko-KR" altLang="en-US" dirty="0"/>
              <a:t>성토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73736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: [ </a:t>
            </a:r>
            <a:r>
              <a:rPr dirty="0" err="1"/>
              <a:t>사토장명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] ➔ [</a:t>
            </a:r>
            <a:r>
              <a:rPr dirty="0" err="1"/>
              <a:t>검색</a:t>
            </a:r>
            <a:r>
              <a:rPr dirty="0"/>
              <a:t>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737360"/>
            <a:ext cx="10972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1810512"/>
            <a:ext cx="1097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+ 하차지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468880"/>
            <a:ext cx="384048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51460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하차지명 | 주소 | 수용가능톤수 | 잔여용량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83464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288036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인천남항 사토장 B | 인천 중구 | 25.5톤 가능 | 12,500 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42900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8880" y="347472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서구 오류동 매립지 C | 인천 서구 | 15톤 가능 | 8,200 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468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2560320"/>
            <a:ext cx="246888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[ 하차지 세부 정보 수정/등록 ]</a:t>
            </a:r>
            <a:br/>
            <a:br/>
            <a:r>
              <a:t>• 하차지명: 인천남항 사토장 B</a:t>
            </a:r>
            <a:br/>
            <a:r>
              <a:t>• 주소: 인천 중구 항동7가 85-3</a:t>
            </a:r>
            <a:br/>
            <a:r>
              <a:t>• 수용가능 덤프 규격: [ 25.5톤 이하 ▼ ]</a:t>
            </a:r>
            <a:br/>
            <a:r>
              <a:t>• 잔여 사토 매립 용량: 12,500 ㎥</a:t>
            </a:r>
            <a:br/>
            <a:r>
              <a:t>• 일일 최대 반입량: 150 대</a:t>
            </a:r>
            <a:br/>
            <a:r>
              <a:t>• 반입 차단 상태: [ 자동 차단 해제 / 차단 활성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394960"/>
            <a:ext cx="1188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수정 저장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5394960"/>
            <a:ext cx="11887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하차지 삭제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사토장(하차지) 정보 등록(주소, 허용 톤수), 잔여 매립가능 입방미터(㎥) 정보 수정 및 관리</a:t>
            </a:r>
            <a:br/>
            <a:r>
              <a:t>2. 하차지 한도 초과 시 배차 신청 자동 차단 및 상태 변경 제어</a:t>
            </a:r>
            <a:br/>
            <a:br/>
            <a:r>
              <a:t>■ 화면 주요 구성 요소 (Main UI Components)</a:t>
            </a:r>
            <a:br/>
            <a:r>
              <a:t>1. 신규 등록 폼 모달: 위경도 기반 주소 검색 및 수용 제한 저장</a:t>
            </a:r>
            <a:br/>
            <a:r>
              <a:t>2. 좌측 목록 뷰: 담당 하차지의 잔여 용량 백분율(%) 표기 그리드</a:t>
            </a:r>
            <a:br/>
            <a:r>
              <a:t>3. 우측 제어 패널: 잔여 용량 필드 편집기 및 긴급 임시 차단 토글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lang="en-US" dirty="0"/>
              <a:t>2</a:t>
            </a:r>
            <a:r>
              <a:rPr dirty="0"/>
              <a:t>. </a:t>
            </a:r>
            <a:r>
              <a:rPr lang="ko-KR" altLang="en-US" dirty="0"/>
              <a:t>성토 요청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(</a:t>
            </a:r>
            <a:r>
              <a:rPr dirty="0" err="1"/>
              <a:t>목록</a:t>
            </a:r>
            <a:r>
              <a:rPr dirty="0"/>
              <a:t>, </a:t>
            </a:r>
            <a:r>
              <a:rPr dirty="0" err="1"/>
              <a:t>검색</a:t>
            </a:r>
            <a:r>
              <a:rPr dirty="0"/>
              <a:t>, </a:t>
            </a:r>
            <a:r>
              <a:rPr dirty="0" err="1"/>
              <a:t>등록</a:t>
            </a:r>
            <a:r>
              <a:rPr dirty="0"/>
              <a:t>, </a:t>
            </a:r>
            <a:r>
              <a:rPr dirty="0" err="1"/>
              <a:t>상세</a:t>
            </a:r>
            <a:r>
              <a:rPr dirty="0"/>
              <a:t>, </a:t>
            </a:r>
            <a:r>
              <a:rPr dirty="0" err="1"/>
              <a:t>수정</a:t>
            </a:r>
            <a:r>
              <a:rPr dirty="0"/>
              <a:t>, </a:t>
            </a:r>
            <a:r>
              <a:rPr dirty="0" err="1"/>
              <a:t>삭제</a:t>
            </a:r>
            <a:r>
              <a:rPr dirty="0"/>
              <a:t>) [DRP-DSP-01]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하차지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rPr lang="ko-KR" altLang="en-US" dirty="0"/>
              <a:t>성토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64592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하차지 등록 운반 배차 목록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1920240"/>
            <a:ext cx="347472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68880" y="196596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하차지명 | 사토여부 | 토사종류 | 상태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2286000"/>
            <a:ext cx="3474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8880" y="2304288"/>
            <a:ext cx="329184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인천남항</a:t>
            </a:r>
            <a:r>
              <a:rPr dirty="0"/>
              <a:t> B | </a:t>
            </a:r>
            <a:r>
              <a:rPr lang="ko-KR" altLang="en-US" dirty="0"/>
              <a:t>무료 </a:t>
            </a:r>
            <a:r>
              <a:rPr dirty="0"/>
              <a:t> | </a:t>
            </a:r>
            <a:r>
              <a:rPr dirty="0" err="1"/>
              <a:t>일반</a:t>
            </a:r>
            <a:r>
              <a:rPr dirty="0"/>
              <a:t> </a:t>
            </a:r>
            <a:r>
              <a:rPr dirty="0" err="1"/>
              <a:t>사토</a:t>
            </a:r>
            <a:r>
              <a:rPr dirty="0"/>
              <a:t> | </a:t>
            </a:r>
            <a:r>
              <a:rPr dirty="0" err="1"/>
              <a:t>매칭중</a:t>
            </a:r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2377440" y="2926080"/>
            <a:ext cx="3474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68880" y="2944368"/>
            <a:ext cx="329184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인천남항</a:t>
            </a:r>
            <a:r>
              <a:rPr dirty="0"/>
              <a:t> B | </a:t>
            </a:r>
            <a:r>
              <a:rPr lang="ko-KR" altLang="en-US" dirty="0"/>
              <a:t>구매</a:t>
            </a:r>
            <a:r>
              <a:rPr dirty="0"/>
              <a:t> | </a:t>
            </a:r>
            <a:r>
              <a:rPr dirty="0" err="1"/>
              <a:t>암사토</a:t>
            </a:r>
            <a:r>
              <a:rPr dirty="0"/>
              <a:t> (돌) | </a:t>
            </a:r>
            <a:r>
              <a:rPr dirty="0" err="1"/>
              <a:t>완료</a:t>
            </a:r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6035040" y="1645920"/>
            <a:ext cx="3108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1737360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1">
                <a:solidFill>
                  <a:srgbClr val="1F2937"/>
                </a:solidFill>
                <a:latin typeface="Malgun Gothic"/>
              </a:defRPr>
            </a:pPr>
            <a:r>
              <a:t>[ 배차 운반 허용 등록 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103120"/>
            <a:ext cx="2743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2148840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0">
                <a:solidFill>
                  <a:srgbClr val="1F2937"/>
                </a:solidFill>
                <a:latin typeface="Malgun Gothic"/>
              </a:defRPr>
            </a:pPr>
            <a:r>
              <a:t>대상 하차지: [ 인천남항 사토장 B ▼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651760"/>
            <a:ext cx="2743200" cy="16773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rPr lang="ko-KR" altLang="en-US" dirty="0"/>
              <a:t>거래 타입</a:t>
            </a:r>
            <a:endParaRPr dirty="0"/>
          </a:p>
        </p:txBody>
      </p:sp>
      <p:sp>
        <p:nvSpPr>
          <p:cNvPr id="30" name="Rectangle 29"/>
          <p:cNvSpPr/>
          <p:nvPr/>
        </p:nvSpPr>
        <p:spPr>
          <a:xfrm>
            <a:off x="6268212" y="2907792"/>
            <a:ext cx="12801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2971800"/>
            <a:ext cx="128016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</a:t>
            </a:r>
            <a:r>
              <a:rPr lang="en-US" dirty="0"/>
              <a:t> </a:t>
            </a:r>
            <a:r>
              <a:rPr lang="ko-KR" altLang="en-US" dirty="0"/>
              <a:t>구매  □ 무료</a:t>
            </a:r>
          </a:p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endParaRPr dirty="0"/>
          </a:p>
        </p:txBody>
      </p:sp>
      <p:sp>
        <p:nvSpPr>
          <p:cNvPr id="32" name="Rectangle 31"/>
          <p:cNvSpPr/>
          <p:nvPr/>
        </p:nvSpPr>
        <p:spPr>
          <a:xfrm>
            <a:off x="7680960" y="2926080"/>
            <a:ext cx="1280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0" y="2971800"/>
            <a:ext cx="128016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rPr dirty="0"/>
              <a:t>□</a:t>
            </a:r>
            <a:r>
              <a:rPr lang="en-US" dirty="0"/>
              <a:t> </a:t>
            </a:r>
            <a:r>
              <a:rPr lang="ko-KR" altLang="en-US" dirty="0"/>
              <a:t>판매</a:t>
            </a:r>
            <a:endParaRPr dirty="0"/>
          </a:p>
        </p:txBody>
      </p:sp>
      <p:sp>
        <p:nvSpPr>
          <p:cNvPr id="34" name="Rectangle 33"/>
          <p:cNvSpPr/>
          <p:nvPr/>
        </p:nvSpPr>
        <p:spPr>
          <a:xfrm>
            <a:off x="6217920" y="3474720"/>
            <a:ext cx="2743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3520439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토사종류</a:t>
            </a:r>
            <a:r>
              <a:rPr dirty="0"/>
              <a:t>: [ </a:t>
            </a:r>
            <a:r>
              <a:rPr dirty="0" err="1"/>
              <a:t>일반</a:t>
            </a:r>
            <a:r>
              <a:rPr dirty="0"/>
              <a:t> </a:t>
            </a:r>
            <a:r>
              <a:rPr dirty="0" err="1"/>
              <a:t>사토</a:t>
            </a:r>
            <a:r>
              <a:rPr dirty="0"/>
              <a:t>(</a:t>
            </a:r>
            <a:r>
              <a:rPr dirty="0" err="1"/>
              <a:t>일반</a:t>
            </a:r>
            <a:r>
              <a:rPr dirty="0"/>
              <a:t> 흙) ▼ 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947062"/>
            <a:ext cx="2743200" cy="135645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8212" y="4048297"/>
            <a:ext cx="2560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4B5563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토사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세부</a:t>
            </a:r>
            <a:r>
              <a:rPr dirty="0"/>
              <a:t> </a:t>
            </a:r>
            <a:r>
              <a:rPr dirty="0" err="1"/>
              <a:t>조건</a:t>
            </a:r>
            <a:br>
              <a:rPr dirty="0"/>
            </a:br>
            <a:r>
              <a:rPr dirty="0"/>
              <a:t>- </a:t>
            </a:r>
            <a:r>
              <a:rPr dirty="0" err="1"/>
              <a:t>암석</a:t>
            </a:r>
            <a:r>
              <a:rPr dirty="0"/>
              <a:t> 20% </a:t>
            </a:r>
            <a:r>
              <a:rPr dirty="0" err="1"/>
              <a:t>초과</a:t>
            </a:r>
            <a:r>
              <a:rPr dirty="0"/>
              <a:t> </a:t>
            </a:r>
            <a:r>
              <a:rPr dirty="0" err="1"/>
              <a:t>함유</a:t>
            </a:r>
            <a:r>
              <a:rPr dirty="0"/>
              <a:t> 시 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거부</a:t>
            </a:r>
            <a:br>
              <a:rPr dirty="0"/>
            </a:br>
            <a:r>
              <a:rPr dirty="0"/>
              <a:t>- </a:t>
            </a:r>
            <a:r>
              <a:rPr dirty="0" err="1"/>
              <a:t>산업폐기물</a:t>
            </a:r>
            <a:r>
              <a:rPr dirty="0"/>
              <a:t> </a:t>
            </a:r>
            <a:r>
              <a:rPr dirty="0" err="1"/>
              <a:t>혼합</a:t>
            </a:r>
            <a:r>
              <a:rPr dirty="0"/>
              <a:t> </a:t>
            </a:r>
            <a:r>
              <a:rPr dirty="0" err="1"/>
              <a:t>토사</a:t>
            </a:r>
            <a:r>
              <a:rPr dirty="0"/>
              <a:t> </a:t>
            </a:r>
            <a:r>
              <a:rPr dirty="0" err="1"/>
              <a:t>적발</a:t>
            </a:r>
            <a:r>
              <a:rPr dirty="0"/>
              <a:t> 시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퇴출</a:t>
            </a:r>
            <a:r>
              <a:rPr dirty="0"/>
              <a:t> 및 </a:t>
            </a:r>
            <a:r>
              <a:rPr dirty="0" err="1"/>
              <a:t>관리자</a:t>
            </a:r>
            <a:r>
              <a:rPr dirty="0"/>
              <a:t> </a:t>
            </a:r>
            <a:r>
              <a:rPr dirty="0" err="1"/>
              <a:t>패널</a:t>
            </a:r>
            <a:r>
              <a:rPr dirty="0"/>
              <a:t> </a:t>
            </a:r>
            <a:r>
              <a:rPr dirty="0" err="1"/>
              <a:t>경고</a:t>
            </a:r>
            <a:r>
              <a:rPr dirty="0"/>
              <a:t> </a:t>
            </a:r>
            <a:r>
              <a:rPr dirty="0" err="1"/>
              <a:t>이력</a:t>
            </a:r>
            <a:r>
              <a:rPr dirty="0"/>
              <a:t> </a:t>
            </a:r>
            <a:r>
              <a:rPr dirty="0" err="1"/>
              <a:t>적재</a:t>
            </a:r>
            <a:endParaRPr dirty="0"/>
          </a:p>
        </p:txBody>
      </p:sp>
      <p:sp>
        <p:nvSpPr>
          <p:cNvPr id="38" name="Rectangle 37"/>
          <p:cNvSpPr/>
          <p:nvPr/>
        </p:nvSpPr>
        <p:spPr>
          <a:xfrm>
            <a:off x="6217920" y="5486400"/>
            <a:ext cx="128016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0" y="5532120"/>
            <a:ext cx="12801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수정 저장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5486400"/>
            <a:ext cx="128016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80960" y="5532120"/>
            <a:ext cx="12801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배차 중지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1463040"/>
            <a:ext cx="2103120" cy="17912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(Key Functions)</a:t>
            </a:r>
            <a:br>
              <a:rPr dirty="0"/>
            </a:br>
            <a:r>
              <a:rPr dirty="0"/>
              <a:t>1. </a:t>
            </a:r>
            <a:r>
              <a:rPr dirty="0" err="1"/>
              <a:t>하차지가</a:t>
            </a:r>
            <a:r>
              <a:rPr dirty="0"/>
              <a:t> </a:t>
            </a:r>
            <a:r>
              <a:rPr dirty="0" err="1"/>
              <a:t>주체가</a:t>
            </a:r>
            <a:r>
              <a:rPr dirty="0"/>
              <a:t> </a:t>
            </a:r>
            <a:r>
              <a:rPr dirty="0" err="1"/>
              <a:t>되어</a:t>
            </a:r>
            <a:r>
              <a:rPr dirty="0"/>
              <a:t> 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허용</a:t>
            </a:r>
            <a:r>
              <a:rPr dirty="0"/>
              <a:t> </a:t>
            </a:r>
            <a:r>
              <a:rPr dirty="0" err="1"/>
              <a:t>오더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(</a:t>
            </a:r>
            <a:r>
              <a:rPr dirty="0" err="1"/>
              <a:t>대상</a:t>
            </a:r>
            <a:r>
              <a:rPr dirty="0"/>
              <a:t> </a:t>
            </a:r>
            <a:r>
              <a:rPr dirty="0" err="1"/>
              <a:t>사토장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, </a:t>
            </a:r>
            <a:r>
              <a:rPr lang="ko-KR" altLang="en-US" dirty="0"/>
              <a:t>거래 타입</a:t>
            </a:r>
            <a:r>
              <a:rPr dirty="0"/>
              <a:t> </a:t>
            </a:r>
            <a:r>
              <a:rPr dirty="0" err="1"/>
              <a:t>체크</a:t>
            </a:r>
            <a:r>
              <a:rPr dirty="0"/>
              <a:t>, </a:t>
            </a:r>
            <a:r>
              <a:rPr dirty="0" err="1"/>
              <a:t>토종</a:t>
            </a:r>
            <a:r>
              <a:rPr dirty="0"/>
              <a:t> </a:t>
            </a:r>
            <a:r>
              <a:rPr dirty="0" err="1"/>
              <a:t>분류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</a:t>
            </a:r>
            <a:r>
              <a:rPr dirty="0"/>
              <a:t> (Main UI Components)</a:t>
            </a:r>
            <a:br>
              <a:rPr dirty="0"/>
            </a:br>
            <a:r>
              <a:rPr dirty="0"/>
              <a:t>1. </a:t>
            </a:r>
            <a:r>
              <a:rPr dirty="0" err="1"/>
              <a:t>좌측</a:t>
            </a:r>
            <a:r>
              <a:rPr dirty="0"/>
              <a:t>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: </a:t>
            </a:r>
            <a:r>
              <a:rPr dirty="0" err="1"/>
              <a:t>등록된</a:t>
            </a:r>
            <a:r>
              <a:rPr dirty="0"/>
              <a:t> </a:t>
            </a:r>
            <a:r>
              <a:rPr dirty="0" err="1"/>
              <a:t>사토</a:t>
            </a:r>
            <a:r>
              <a:rPr dirty="0"/>
              <a:t> </a:t>
            </a:r>
            <a:r>
              <a:rPr dirty="0" err="1"/>
              <a:t>조건별</a:t>
            </a:r>
            <a:r>
              <a:rPr dirty="0"/>
              <a:t> </a:t>
            </a:r>
            <a:r>
              <a:rPr dirty="0" err="1"/>
              <a:t>매칭</a:t>
            </a:r>
            <a:r>
              <a:rPr dirty="0"/>
              <a:t> 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현황</a:t>
            </a:r>
            <a:r>
              <a:rPr dirty="0"/>
              <a:t> </a:t>
            </a:r>
            <a:r>
              <a:rPr dirty="0" err="1"/>
              <a:t>리스트</a:t>
            </a:r>
            <a:br>
              <a:rPr dirty="0"/>
            </a:br>
            <a:r>
              <a:rPr dirty="0"/>
              <a:t>2. </a:t>
            </a:r>
            <a:r>
              <a:rPr dirty="0" err="1"/>
              <a:t>우측</a:t>
            </a:r>
            <a:r>
              <a:rPr dirty="0"/>
              <a:t> </a:t>
            </a:r>
            <a:r>
              <a:rPr dirty="0" err="1"/>
              <a:t>세부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: </a:t>
            </a:r>
            <a:r>
              <a:rPr lang="ko-KR" altLang="en-US" dirty="0"/>
              <a:t>거래타입</a:t>
            </a:r>
            <a:r>
              <a:rPr dirty="0"/>
              <a:t> </a:t>
            </a:r>
            <a:r>
              <a:rPr dirty="0" err="1"/>
              <a:t>라디오버튼</a:t>
            </a:r>
            <a:r>
              <a:rPr dirty="0"/>
              <a:t> </a:t>
            </a:r>
            <a:r>
              <a:rPr dirty="0" err="1"/>
              <a:t>콤보</a:t>
            </a:r>
            <a:r>
              <a:rPr dirty="0"/>
              <a:t>, </a:t>
            </a:r>
            <a:r>
              <a:rPr dirty="0" err="1"/>
              <a:t>토사종류</a:t>
            </a:r>
            <a:r>
              <a:rPr dirty="0"/>
              <a:t>(</a:t>
            </a:r>
            <a:r>
              <a:rPr dirty="0" err="1"/>
              <a:t>사토</a:t>
            </a:r>
            <a:r>
              <a:rPr dirty="0"/>
              <a:t>/</a:t>
            </a:r>
            <a:r>
              <a:rPr dirty="0" err="1"/>
              <a:t>암석</a:t>
            </a:r>
            <a:r>
              <a:rPr dirty="0"/>
              <a:t>/</a:t>
            </a:r>
            <a:r>
              <a:rPr dirty="0" err="1"/>
              <a:t>점토</a:t>
            </a:r>
            <a:r>
              <a:rPr dirty="0"/>
              <a:t> 등) </a:t>
            </a:r>
            <a:r>
              <a:rPr dirty="0" err="1"/>
              <a:t>셀렉터</a:t>
            </a:r>
            <a:r>
              <a:rPr dirty="0"/>
              <a:t> </a:t>
            </a:r>
            <a:r>
              <a:rPr dirty="0" err="1"/>
              <a:t>컨트롤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4. 하차지관리자 - 하차지별 지도 기반 배차 현황 화면 [DRP-MON-01]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하차지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33472"/>
            <a:ext cx="146304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rPr lang="ko-KR" altLang="en-US" dirty="0"/>
              <a:t>성토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4389120" cy="4389120"/>
          </a:xfrm>
          <a:prstGeom prst="rect">
            <a:avLst/>
          </a:prstGeom>
          <a:solidFill>
            <a:srgbClr val="DCE1E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828800"/>
            <a:ext cx="4023360" cy="4023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[ 하차지 진입 차량 GPS 위치추적 및 대기 관제 ]</a:t>
            </a:r>
            <a:br/>
            <a:br/>
            <a:r>
              <a:t>• 인천남항 사토장 기준 1km 반경 진입 차량 마커(🚚) 4대 식별</a:t>
            </a:r>
            <a:br/>
            <a:r>
              <a:t>• 게이트 지오펜싱(200m) 통과 시 자동으로 '진입 대기' 상태 전환</a:t>
            </a:r>
            <a:br/>
            <a:r>
              <a:t>• 진입 승인/반출 완료 즉시 티켓 정산 적재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645920"/>
            <a:ext cx="21945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사토장 게이트 반입 승인 제어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01168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0" y="2057400"/>
            <a:ext cx="20116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인천 80바 4531 (25.5t)</a:t>
            </a:r>
            <a:br/>
            <a:r>
              <a:t>기사: 강감찬 | 토사: 사토</a:t>
            </a:r>
            <a:br/>
            <a:r>
              <a:t>상태: [ GATE PENDING ] (대기)</a:t>
            </a:r>
            <a:br/>
            <a:r>
              <a:t>※ 육안 확인 후 승인 단추 클릭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2834640"/>
            <a:ext cx="20116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2852928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</a:defRPr>
            </a:pPr>
            <a:r>
              <a:t>반입 확인 (정산 확정)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329184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3337560"/>
            <a:ext cx="20116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경기 82자 7732 (15t)</a:t>
            </a:r>
            <a:br/>
            <a:r>
              <a:t>기사: 임꺽정 | 토사: 자갈</a:t>
            </a:r>
            <a:br/>
            <a:r>
              <a:t>상태: [ COMPLETE ] (하차 완료)</a:t>
            </a:r>
            <a:br/>
            <a:r>
              <a:t>시간: 22:14 | 정산전송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특정 하차지 반경에 들어온 덤프트럭들의 접근 현황을 지도에서 모니터링</a:t>
            </a:r>
            <a:br/>
            <a:r>
              <a:t>2. 게이트 앞 실물 확인 후 수동으로 [반입 확인] 클릭 시 전자송장 확정 및 기사 수당 정산 큐 전송</a:t>
            </a:r>
            <a:br/>
            <a:br/>
            <a:r>
              <a:t>■ 화면 주요 구성 요소 (Main UI Components)</a:t>
            </a:r>
            <a:br/>
            <a:r>
              <a:t>1. 반입 실시간 맵: 하차지 중심 지오펜스 진입 상황 마커</a:t>
            </a:r>
            <a:br/>
            <a:r>
              <a:t>2. 게이트 승인 패널: 진입 대기 상태(`GATE_PENDING`) 차량들의 즉시 반입 확인/반려 액션 단추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04389-CD0B-8F6E-96FB-7CF07509C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370A7B-6EC4-DCE9-C8C6-3E77ADCF3E5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9F331E-0E1A-FEB5-6A66-B91FF888F177}"/>
              </a:ext>
            </a:extLst>
          </p:cNvPr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B7D44-2EA8-CA69-AEBA-F9E3F62842EF}"/>
              </a:ext>
            </a:extLst>
          </p:cNvPr>
          <p:cNvSpPr txBox="1"/>
          <p:nvPr/>
        </p:nvSpPr>
        <p:spPr>
          <a:xfrm>
            <a:off x="914400" y="18288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DUMPRING DROP-OFF MANAGER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80CFB-A751-17FD-DEB2-B9AC9B729B95}"/>
              </a:ext>
            </a:extLst>
          </p:cNvPr>
          <p:cNvSpPr txBox="1"/>
          <p:nvPr/>
        </p:nvSpPr>
        <p:spPr>
          <a:xfrm>
            <a:off x="914400" y="2286000"/>
            <a:ext cx="10360152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Malgun Gothic"/>
              </a:defRPr>
            </a:pPr>
            <a:r>
              <a:rPr lang="ko-KR" altLang="en-US" dirty="0"/>
              <a:t>관리 기능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9600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06. 분쟁 조정 센터 (GPS 중재 및 직권 판정)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Malgun Gothic"/>
              </a:defRPr>
            </a:pPr>
            <a:r>
              <a:t>■ 분쟁 조정 주요 기능</a:t>
            </a:r>
            <a:br/>
            <a:r>
              <a:t>- 토질 불합격 회차 시, 정산 분쟁을 최종 중재합니다.</a:t>
            </a:r>
            <a:br/>
            <a:r>
              <a:t>- 차량의 GPS 역사 데이터를 추적하여 실제 하차지 진입 궤적 여부를 증명합니다.</a:t>
            </a:r>
            <a:br/>
            <a:br/>
            <a:r>
              <a:t>■ UI 핵심 명세</a:t>
            </a:r>
            <a:br/>
            <a:r>
              <a:t>1. 분쟁 이력 요약:</a:t>
            </a:r>
            <a:br/>
            <a:r>
              <a:t>   - 하차지 기각 사유와 기사의 이의 소명 텍스트.</a:t>
            </a:r>
            <a:br/>
            <a:r>
              <a:t>2. GPS 분석 맵:</a:t>
            </a:r>
            <a:br/>
            <a:r>
              <a:t>   - 실제 정상 주행을 하였는지 나타내는 궤적 표시판.</a:t>
            </a:r>
            <a:br/>
            <a:r>
              <a:t>3. [직권 정산] 단추:</a:t>
            </a:r>
            <a:br/>
            <a:r>
              <a:t>   - 70% 정산 명령(SETTLE_ADJUSTED) 적용 기능.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554480"/>
            <a:ext cx="8412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1554480"/>
            <a:ext cx="1645920" cy="457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190195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35915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회원 심사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81635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현장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7355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제어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분쟁 조정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1737360"/>
            <a:ext cx="6400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97480" y="1783080"/>
            <a:ext cx="61264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분쟁 관리 티켓 #2043 (김덤프 기사 ➔ 영종 사토장)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057400"/>
            <a:ext cx="61264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• 하차지 반려 사유: 뻘흙 유입 불가  |  • 기사 소명: 양질의 사토로 적합 주행 완료함</a:t>
            </a:r>
            <a:br/>
            <a:r>
              <a:t>• 소명 자료: 하차지 진입 인증 완료 (정상 주행 거리 18.2km)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697480"/>
            <a:ext cx="457200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60320" y="347472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[실시간 수집 GPS 주행 궤적 지도 영역]</a:t>
            </a:r>
            <a:br/>
            <a:r>
              <a:t>상차지 ➔ 하차지 진입 ➔ 회차(정상 궤적 수집 완료)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2697480"/>
            <a:ext cx="1645920" cy="20116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0" y="3474720"/>
            <a:ext cx="164592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[현장 증빙</a:t>
            </a:r>
            <a:br/>
            <a:r>
              <a:t>뻘흙 사진 썸네일]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937760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B5563"/>
                </a:solidFill>
                <a:latin typeface="Malgun Gothic"/>
              </a:defRPr>
            </a:pPr>
            <a:r>
              <a:t>직권 중재 판정 실행: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4846320"/>
            <a:ext cx="21031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23360" y="4919472"/>
            <a:ext cx="2103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70% 직권 정산 (Settle Adjusted)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846320"/>
            <a:ext cx="2103120" cy="4114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4919472"/>
            <a:ext cx="2103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무단 회차 판정 (미지급)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3057</Words>
  <Application>Microsoft Office PowerPoint</Application>
  <PresentationFormat>사용자 지정</PresentationFormat>
  <Paragraphs>198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Crypto</dc:creator>
  <cp:keywords/>
  <dc:description>generated using python-pptx</dc:description>
  <cp:lastModifiedBy>uhong ryu</cp:lastModifiedBy>
  <cp:revision>6</cp:revision>
  <dcterms:created xsi:type="dcterms:W3CDTF">2013-01-27T09:14:16Z</dcterms:created>
  <dcterms:modified xsi:type="dcterms:W3CDTF">2026-06-05T14:32:28Z</dcterms:modified>
  <cp:category/>
</cp:coreProperties>
</file>